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6cad46e-07a9-f114-edf4-ea9d67cd5189}">
          <p14:sldIdLst>
            <p14:sldId id="256"/>
            <p14:sldId id="257"/>
            <p14:sldId id="258"/>
            <p14:sldId id="259"/>
            <p14:sldId id="260"/>
          </p14:sldIdLst>
        </p14:section>
        <p14:section name="1. What SCATS is" id="{dab5a745-f624-1721-8f28-86c7e8dff371}">
          <p14:sldIdLst>
            <p14:sldId id="261"/>
            <p14:sldId id="262"/>
            <p14:sldId id="263"/>
          </p14:sldIdLst>
        </p14:section>
        <p14:section name="2. Two levels" id="{3e085a15-da80-be87-19df-bc7a680ceb01}">
          <p14:sldIdLst>
            <p14:sldId id="264"/>
            <p14:sldId id="265"/>
            <p14:sldId id="266"/>
          </p14:sldIdLst>
        </p14:section>
        <p14:section name="3. Timing words" id="{21a3b944-3455-a870-806c-d74c869024fa}">
          <p14:sldIdLst>
            <p14:sldId id="267"/>
            <p14:sldId id="268"/>
            <p14:sldId id="269"/>
          </p14:sldIdLst>
        </p14:section>
        <p14:section name="4. Degree of saturation" id="{9bb917c5-2a46-2c0c-3c0b-bb2d62d5c73a}">
          <p14:sldIdLst>
            <p14:sldId id="270"/>
            <p14:sldId id="271"/>
            <p14:sldId id="272"/>
          </p14:sldIdLst>
        </p14:section>
        <p14:section name="5. Three controllers" id="{bc864339-c14f-c862-3658-bae1477a65d5}">
          <p14:sldIdLst>
            <p14:sldId id="273"/>
            <p14:sldId id="274"/>
            <p14:sldId id="275"/>
          </p14:sldIdLst>
        </p14:section>
        <p14:section name="6. Webster &amp; calibration" id="{a39fe215-9a6b-d471-967c-72955e14d38d}">
          <p14:sldIdLst>
            <p14:sldId id="276"/>
            <p14:sldId id="277"/>
            <p14:sldId id="278"/>
          </p14:sldIdLst>
        </p14:section>
        <p14:section name="Wrap-up" id="{bff613b7-c559-e221-2a09-8dd8552ea488}">
          <p14:sldIdLst>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SCATS cycle length over one hour in Lab F3 (SUMO).</a:t>
            </a:r>
          </a:p>
        </c:rich>
      </c:tx>
      <c:layout/>
      <c:overlay val="0"/>
    </c:title>
    <c:autoTitleDeleted val="0"/>
    <c:plotArea>
      <c:layout/>
      <c:lineChart>
        <c:varyColors val="0"/>
        <c:ser>
          <c:idx val="0"/>
          <c:order val="0"/>
          <c:tx>
            <c:strRef>
              <c:f>Sheet1!$B$1</c:f>
              <c:strCache>
                <c:ptCount val="1"/>
                <c:pt idx="0">
                  <c:v>Cycle length</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Sheet1!$A$2:$A$32</c:f>
              <c:multiLvlStrCache>
                <c:ptCount val="31"/>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lvl>
              </c:multiLvlStrCache>
            </c:multiLvlStrRef>
          </c:cat>
          <c:val>
            <c:numRef>
              <c:f>Sheet1!$B$2:$B$32</c:f>
              <c:numCache>
                <c:formatCode>General</c:formatCode>
                <c:ptCount val="31"/>
                <c:pt idx="0">
                  <c:v>79</c:v>
                </c:pt>
                <c:pt idx="1">
                  <c:v>96</c:v>
                </c:pt>
                <c:pt idx="2">
                  <c:v>81.6</c:v>
                </c:pt>
                <c:pt idx="3">
                  <c:v>48</c:v>
                </c:pt>
                <c:pt idx="4">
                  <c:v>40</c:v>
                </c:pt>
                <c:pt idx="5">
                  <c:v>40</c:v>
                </c:pt>
                <c:pt idx="6">
                  <c:v>40</c:v>
                </c:pt>
                <c:pt idx="7">
                  <c:v>40</c:v>
                </c:pt>
                <c:pt idx="8">
                  <c:v>40</c:v>
                </c:pt>
                <c:pt idx="9">
                  <c:v>40</c:v>
                </c:pt>
                <c:pt idx="10">
                  <c:v>40</c:v>
                </c:pt>
                <c:pt idx="11">
                  <c:v>40.8</c:v>
                </c:pt>
                <c:pt idx="12">
                  <c:v>49.2</c:v>
                </c:pt>
                <c:pt idx="13">
                  <c:v>57.2</c:v>
                </c:pt>
                <c:pt idx="14">
                  <c:v>66.9</c:v>
                </c:pt>
                <c:pt idx="15">
                  <c:v>67.7</c:v>
                </c:pt>
                <c:pt idx="16">
                  <c:v>60.4</c:v>
                </c:pt>
                <c:pt idx="17">
                  <c:v>60.5</c:v>
                </c:pt>
                <c:pt idx="18">
                  <c:v>64.7</c:v>
                </c:pt>
                <c:pt idx="19">
                  <c:v>66.5</c:v>
                </c:pt>
                <c:pt idx="20">
                  <c:v>76.7</c:v>
                </c:pt>
                <c:pt idx="21">
                  <c:v>80.3</c:v>
                </c:pt>
                <c:pt idx="22">
                  <c:v>67.7</c:v>
                </c:pt>
                <c:pt idx="23">
                  <c:v>57</c:v>
                </c:pt>
                <c:pt idx="24">
                  <c:v>39.7</c:v>
                </c:pt>
                <c:pt idx="25">
                  <c:v>39.7</c:v>
                </c:pt>
                <c:pt idx="26">
                  <c:v>39.7</c:v>
                </c:pt>
                <c:pt idx="27">
                  <c:v>39.7</c:v>
                </c:pt>
                <c:pt idx="28">
                  <c:v>39.7</c:v>
                </c:pt>
                <c:pt idx="29">
                  <c:v>39.7</c:v>
                </c:pt>
                <c:pt idx="30">
                  <c:v>39.7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time (minutes)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5"/>
      </c:catAx>
      <c:valAx>
        <c:axId val="2094734552"/>
        <c:scaling>
          <c:orientation val="minMax"/>
          <c:max val="11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cycle length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Share of the cycle lost to intergreens (2 phases × 5 s).</a:t>
            </a:r>
          </a:p>
        </c:rich>
      </c:tx>
      <c:layout/>
      <c:overlay val="0"/>
    </c:title>
    <c:autoTitleDeleted val="0"/>
    <c:plotArea>
      <c:layout/>
      <c:barChart>
        <c:barDir val="col"/>
        <c:grouping val="clustered"/>
        <c:varyColors val="0"/>
        <c:ser>
          <c:idx val="0"/>
          <c:order val="0"/>
          <c:tx>
            <c:strRef>
              <c:f>Sheet1!$B$1</c:f>
              <c:strCache>
                <c:ptCount val="1"/>
                <c:pt idx="0">
                  <c:v>lost time (% of cycle)</c:v>
                </c:pt>
              </c:strCache>
            </c:strRef>
          </c:tx>
          <c:spPr>
            <a:solidFill>
              <a:srgbClr val="2F5A1C"/>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40 s cycle</c:v>
                  </c:pt>
                  <c:pt idx="1">
                    <c:v>60 s cycle</c:v>
                  </c:pt>
                  <c:pt idx="2">
                    <c:v>90 s cycle</c:v>
                  </c:pt>
                  <c:pt idx="3">
                    <c:v>120 s cycle</c:v>
                  </c:pt>
                </c:lvl>
              </c:multiLvlStrCache>
            </c:multiLvlStrRef>
          </c:cat>
          <c:val>
            <c:numRef>
              <c:f>Sheet1!$B$2:$B$5</c:f>
              <c:numCache>
                <c:formatCode>General</c:formatCode>
                <c:ptCount val="4"/>
                <c:pt idx="0">
                  <c:v>25</c:v>
                </c:pt>
                <c:pt idx="1">
                  <c:v>16.7</c:v>
                </c:pt>
                <c:pt idx="2">
                  <c:v>11.1</c:v>
                </c:pt>
                <c:pt idx="3">
                  <c:v>8.3</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lost time (% of cycle)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Measured DS against true arrival flow, for a correct and a wrong h.</a:t>
            </a:r>
          </a:p>
        </c:rich>
      </c:tx>
      <c:layout/>
      <c:overlay val="0"/>
    </c:title>
    <c:autoTitleDeleted val="0"/>
    <c:plotArea>
      <c:layout/>
      <c:lineChart>
        <c:varyColors val="0"/>
        <c:ser>
          <c:idx val="0"/>
          <c:order val="0"/>
          <c:tx>
            <c:strRef>
              <c:f>Sheet1!$B$1</c:f>
              <c:strCache>
                <c:ptCount val="1"/>
                <c:pt idx="0">
                  <c:v>h correct (1.55 s)</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Sheet1!$A$2:$A$8</c:f>
              <c:multiLvlStrCache>
                <c:ptCount val="7"/>
                <c:lvl>
                  <c:pt idx="0">
                    <c:v>0</c:v>
                  </c:pt>
                  <c:pt idx="1">
                    <c:v>300</c:v>
                  </c:pt>
                  <c:pt idx="2">
                    <c:v>600</c:v>
                  </c:pt>
                  <c:pt idx="3">
                    <c:v>900</c:v>
                  </c:pt>
                  <c:pt idx="4">
                    <c:v>1200</c:v>
                  </c:pt>
                  <c:pt idx="5">
                    <c:v>1500</c:v>
                  </c:pt>
                  <c:pt idx="6">
                    <c:v>1800</c:v>
                  </c:pt>
                </c:lvl>
              </c:multiLvlStrCache>
            </c:multiLvlStrRef>
          </c:cat>
          <c:val>
            <c:numRef>
              <c:f>Sheet1!$B$2:$B$8</c:f>
              <c:numCache>
                <c:formatCode>General</c:formatCode>
                <c:ptCount val="7"/>
                <c:pt idx="0">
                  <c:v>0</c:v>
                </c:pt>
                <c:pt idx="1">
                  <c:v>0.167</c:v>
                </c:pt>
                <c:pt idx="2">
                  <c:v>0.333</c:v>
                </c:pt>
                <c:pt idx="3">
                  <c:v>0.5</c:v>
                </c:pt>
                <c:pt idx="4">
                  <c:v>0.667</c:v>
                </c:pt>
                <c:pt idx="5">
                  <c:v>0.833</c:v>
                </c:pt>
                <c:pt idx="6">
                  <c:v>1</c:v>
                </c:pt>
              </c:numCache>
            </c:numRef>
          </c:val>
          <c:smooth val="0"/>
        </c:ser>
        <c:ser>
          <c:idx val="1"/>
          <c:order val="1"/>
          <c:tx>
            <c:strRef>
              <c:f>Sheet1!$C$1</c:f>
              <c:strCache>
                <c:ptCount val="1"/>
                <c:pt idx="0">
                  <c:v>h too small (1.0 s)</c:v>
                </c:pt>
              </c:strCache>
            </c:strRef>
          </c:tx>
          <c:spPr>
            <a:solidFill>
              <a:srgbClr val="F2B526"/>
            </a:solidFill>
            <a:ln w="28575" cap="flat">
              <a:solidFill>
                <a:srgbClr val="F2B5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B526"/>
              </a:solidFill>
              <a:ln w="9525" cap="flat">
                <a:solidFill>
                  <a:srgbClr val="F2B526"/>
                </a:solidFill>
                <a:prstDash val="solid"/>
                <a:round/>
              </a:ln>
              <a:effectLst/>
            </c:spPr>
          </c:marker>
          <c:cat>
            <c:multiLvlStrRef>
              <c:f>Sheet1!$A$2:$A$8</c:f>
              <c:multiLvlStrCache>
                <c:ptCount val="7"/>
                <c:lvl>
                  <c:pt idx="0">
                    <c:v>0</c:v>
                  </c:pt>
                  <c:pt idx="1">
                    <c:v>300</c:v>
                  </c:pt>
                  <c:pt idx="2">
                    <c:v>600</c:v>
                  </c:pt>
                  <c:pt idx="3">
                    <c:v>900</c:v>
                  </c:pt>
                  <c:pt idx="4">
                    <c:v>1200</c:v>
                  </c:pt>
                  <c:pt idx="5">
                    <c:v>1500</c:v>
                  </c:pt>
                  <c:pt idx="6">
                    <c:v>1800</c:v>
                  </c:pt>
                </c:lvl>
              </c:multiLvlStrCache>
            </c:multiLvlStrRef>
          </c:cat>
          <c:val>
            <c:numRef>
              <c:f>Sheet1!$C$2:$C$8</c:f>
              <c:numCache>
                <c:formatCode>General</c:formatCode>
                <c:ptCount val="7"/>
                <c:pt idx="0">
                  <c:v>0</c:v>
                </c:pt>
                <c:pt idx="1">
                  <c:v>0.121</c:v>
                </c:pt>
                <c:pt idx="2">
                  <c:v>0.242</c:v>
                </c:pt>
                <c:pt idx="3">
                  <c:v>0.362</c:v>
                </c:pt>
                <c:pt idx="4">
                  <c:v>0.483</c:v>
                </c:pt>
                <c:pt idx="5">
                  <c:v>0.604</c:v>
                </c:pt>
                <c:pt idx="6">
                  <c:v>0.725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arrival flow during green (veh/h)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1"/>
      </c:catAx>
      <c:valAx>
        <c:axId val="2094734552"/>
        <c:scaling>
          <c:orientation val="minMax"/>
          <c:max val="1.15"/>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measured 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per vehicle in Lab F3 (SUMO, one intersection, one hour).</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7A4412"/>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Fixed time</c:v>
                  </c:pt>
                  <c:pt idx="1">
                    <c:v>Actuated</c:v>
                  </c:pt>
                  <c:pt idx="2">
                    <c:v>SCATS</c:v>
                  </c:pt>
                </c:lvl>
              </c:multiLvlStrCache>
            </c:multiLvlStrRef>
          </c:cat>
          <c:val>
            <c:numRef>
              <c:f>Sheet1!$B$2:$B$4</c:f>
              <c:numCache>
                <c:formatCode>General</c:formatCode>
                <c:ptCount val="3"/>
                <c:pt idx="0">
                  <c:v>20.44</c:v>
                </c:pt>
                <c:pt idx="1">
                  <c:v>14.96</c:v>
                </c:pt>
                <c:pt idx="2">
                  <c:v>14.27</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Webster's optimum cycle as demand grows (L = 10 s).</a:t>
            </a:r>
          </a:p>
        </c:rich>
      </c:tx>
      <c:layout/>
      <c:overlay val="0"/>
    </c:title>
    <c:autoTitleDeleted val="0"/>
    <c:plotArea>
      <c:layout/>
      <c:lineChart>
        <c:varyColors val="0"/>
        <c:ser>
          <c:idx val="0"/>
          <c:order val="0"/>
          <c:tx>
            <c:strRef>
              <c:f>Sheet1!$B$1</c:f>
              <c:strCache>
                <c:ptCount val="1"/>
                <c:pt idx="0">
                  <c:v>Optimum cycle C0</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Sheet1!$A$2:$A$8</c:f>
              <c:multiLvlStrCache>
                <c:ptCount val="7"/>
                <c:lvl>
                  <c:pt idx="0">
                    <c:v>0.3</c:v>
                  </c:pt>
                  <c:pt idx="1">
                    <c:v>0.4</c:v>
                  </c:pt>
                  <c:pt idx="2">
                    <c:v>0.5</c:v>
                  </c:pt>
                  <c:pt idx="3">
                    <c:v>0.6</c:v>
                  </c:pt>
                  <c:pt idx="4">
                    <c:v>0.7</c:v>
                  </c:pt>
                  <c:pt idx="5">
                    <c:v>0.8</c:v>
                  </c:pt>
                  <c:pt idx="6">
                    <c:v>0.85</c:v>
                  </c:pt>
                </c:lvl>
              </c:multiLvlStrCache>
            </c:multiLvlStrRef>
          </c:cat>
          <c:val>
            <c:numRef>
              <c:f>Sheet1!$B$2:$B$8</c:f>
              <c:numCache>
                <c:formatCode>General</c:formatCode>
                <c:ptCount val="7"/>
                <c:pt idx="0">
                  <c:v>28.6</c:v>
                </c:pt>
                <c:pt idx="1">
                  <c:v>33.3</c:v>
                </c:pt>
                <c:pt idx="2">
                  <c:v>40</c:v>
                </c:pt>
                <c:pt idx="3">
                  <c:v>50</c:v>
                </c:pt>
                <c:pt idx="4">
                  <c:v>66.7</c:v>
                </c:pt>
                <c:pt idx="5">
                  <c:v>100</c:v>
                </c:pt>
                <c:pt idx="6">
                  <c:v>133.3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Y, sum of critical flow ratios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1"/>
      </c:catAx>
      <c:valAx>
        <c:axId val="2094734552"/>
        <c:scaling>
          <c:orientation val="minMax"/>
          <c:max val="15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cycle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is for complete beginners. You need no traffic engineering and only school maths. By the end you will understand how SCATS, one of the most widely used adaptive traffic systems in the world, measures traffic with a loop at the stop line and turns one number, the degree of saturation, into new signal timings. There are six ideas. Each builds on the one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Explain what 'adaptive, coordinated and plan-based' mean for SCATS.
- Say which decisions are tactical (every second) and which are strategic (every cycle).
- Use cycle, phase, split, intergreen and offset correctly, and work out the greens of a cycle.
- Compute the degree of saturation (DS) and VK from a loop record by hand.
- Explain why SCATS beat fixed time and roughly tied with actuation at one junction in the SUMO lab.
- Design a fixed plan with Webster's formula and say why SCATS re-solves it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greens are measured; DS drives strategic control; how SCATS adapts; raced in Lab F3; fixed plans come from here; needs calibrated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timing plan written months ago knows nothing about today's crash, concert or rainstorm. SCATS grades every green it just gave, and corrects the next cycle. How can such small corrections keep a whole city moving?
SCATS stands for the Sydney Coordinated Adaptive Traffic System. It was developed by the New South Wales Department of Main Roads from the 1970s and is owned and run today by Transport for NSW.
Three words describe it. Adaptive: timings change automatically from detector data, cycle by cycle. Coordinated: neighbouring signals share a cycle and are offset so platoons (bunches of cars) meet green lights. Plan-based: SCATS does not invent arbitrary timings; it chooses and blends from a library of split and offset plans approved by engineers.
The core idea is simple. At the end of each cycle SCATS asks: how well was each green used? Then it nudges the cycle length and the split for the next cycle. Many small corrections keep the signals in step with real traffic.
Presenter tip: Open with the homework-marking analogy. Stress the three words and that SCATS chooses from approved plans rather than inventing timings.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loop to the next cycle. What to notice: the loop reports every second, the local controller reacts at once, and the regional computer grades the whole cycle before choosing the next timings. Read left to right, then down.
Try it with the audience: An intersection runs a 120 s cycle. How many strategic decisions does SCATS make there in one hour?
Answer: 3600 ÷ 120 = 30 cycles, so 30 strategic decisions (one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Conductor = coordinated; red marks after every bar = adaptive grading of each cycle; four music books = the library of split plans (plan-based).
Recap: What SCATS is: adaptive (every cycle), coordinated (shared cycle, offsets) and plan-based (approved plans); it grades each green and nudges the next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decisions must be made in a split second (the road just emptied). Others need the whole picture (traffic is building across the area). SCATS gives each kind of decision its own brain.
Tactical control runs in the roadside controller, every second. Its main tool is gap-out: if no vehicle has crossed the loop for a few seconds (the gap setting, 3 s in this lab), the green ends early. It also skips a phase nobody is waiting for, and responds to buses and emergency vehicles.
Strategic control runs in a regional computer, once per cycle. It measures the degree of saturation (DS) of each phase, then sets the cycle length, the split plan and the offsets for a group of intersections called a subsystem. The cycle is steered so the busiest phase sits near a target DS of 0.9, moving only a few seconds per cycle.
If communications fail, each intersection has a fallback. Full adaptive control is Masterlink. Flexilink runs time-of-day plans with clocks kept in step. Isolated runs local vehicle actuation.
Presenter tip: Use the waiter and manager analogy. Work both cycle cases on the board. Show the Lab F3 curve: cycle falls in light traffic and rises in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SCATS cycle length over one hour in Lab F3 (SUMO). What to notice: in light traffic the cycle falls to the 40 s minimum; as the peak builds and DS nears 1 it climbs to about 70-80 s; after the peak it falls back. Sampled every 2 minutes from the repository run.
Try it with the audience: The cycle is 60 s and the busiest phase had DS 1.05. What new cycle does this lab's rule give?
Answer: Desired = 60 × 1.05 ÷ 0.9 = 70 s, 10 s longer. DS ≥ 1, so the step limit is +9 s: new cycle = 69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Downstairs driver = tactical control every second (gap-out, skip); upstairs captain = strategic control once per cycle; six clicks = the ±6 s cycle step.
Recap: Two levels: tactical control every second in the local controller (gap-out, skip); strategic control every cycle in the regional computer (cycle towards DS 0.9, splits, offsets).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signal plan in the world is described with the same five words. Learn them once and every traffic engineering conversation becomes readable.
A phase is a set of movements that may run together; here A is the main road and B the side road. The cycle (SCATS calls its length RL) is the time for every phase to run once, including the changeovers.
Between two phases comes the intergreen: amber plus all-red. Traffic barely moves, so it is lost time. Whatever is left of the cycle is green, shared between phases by the split. SCATS keeps a small library of split plans (SP1 to SP4 in this lab).
The offset is when a cycle starts at one intersection compared with a reference one. Good offsets make green waves; the Advanced level covers them.
Presenter tip: The pizza analogy works well drawn on the board. Make sure everyone subtracts the intergreens before sharing the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the cycle lost to intergreens (2 phases × 5 s). What to notice: the same 10 s of intergreen is a quarter of a 40 s cycle but under a tenth of a 120 s cycle. Computed as 10 ÷ cycle.
Try it with the audience: A 120 s cycle has three phases with 5 s intergreen each and a split of 50% / 30% / 20%. Find each green and the share of the cycle lost.
Answer: Lost = 3 × 5 = 15 s; green = 105 s. Greens: 52.5 s, 31.5 s, 21 s. Lost share = 15 ÷ 120 =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Whole pizza = cycle; slices = phases; slice sizes = split; burnt crust = intergreen (lost time); the hand's start time vs the next tower = offset.
Recap: Timing words: phase = movements together; cycle = all phases plus intergreens; split = share of green; intergreen = amber + all-red (lost); offset = start time vs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know how busy a green was, without counting cars? Measure the empty road. Whatever was not empty was used.
During each green SCATS watches the stop-line loop and adds up the gap time T: every moment when nothing is over the loop. It also counts the vehicles n.
Even a perfectly packed stream of cars leaves a small gap between each pair, the standard space time h. So n vehicles 'should' leave n × h of gap. Any gap beyond that, T − n·h, is wasted green. The rest is used green g′, and the degree of saturation is the share of the green that was used.
SCATS also turns DS into VK, a car-equivalent volume, using MF, the maximum flow the lane can carry (learned automatically). Because DS is measured in time, a truck that covers the loop longer counts for more, just as it uses more green.
Presenter tip: Work the five steps on the board. Then ask what happens to DS if h is too small, and show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DS against true arrival flow, for a correct and a wrong h. What to notice: with the true h (1.55 s here: one car every 2 s, each covering the loop 0.45 s) DS rises in a straight line to 1 at 1800 veh/h. With h set too small (1.0 s) DS is under-estimated by about a quarter, so SCATS would give too little green. Computed for g = 40 s.
Try it with the audience: Green g = 30 s, gap time T = 15 s, n = 8 vehicles, h = 1.6 s, MF = 1730 veh/h. Find DS and VK.
Answer: n·h = 12.8 s; wasted = 15 − 12.8 = 2.2 s; g′ = 27.8 s; DS = 27.8 ÷ 30 = 0.927. VK = 0.927 × 30 × 1730 ÷ 3600 =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Ruler = h (1.6 s); cones in the bin = wasted green T − n·h; the scoreboard = DS = g′ ÷ g.
Recap: Degree of saturation: wasted = T − n·h, used g′ = g − wasted, DS = g′/g, VK = DS·g·MF/3600; h must be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three controllers on the same junction with the same cars. The plain timer loses badly. But the race between the other two is much closer than you might expect.
Fixed time runs one plan (here a 90 s cycle) whatever the traffic. Actuated control uses the loops to end greens early by gap-out but keeps fixed maximum greens. SCATS adds the strategic layer: after every cycle it computes DS, moves the cycle length towards DS 0.9 and votes on the best of four split plans.
In Lab F3 (one intersection in SUMO, one hour with a peak in the middle, identical arrivals) the mean delay was 20.44 s for fixed time, 14.96 s for actuated and 14.27 s for SCATS. Stops per vehicle were 0.64, 0.62 and 0.565.
At one isolated intersection SCATS and good actuation finish close together: both end greens when traffic clears. SCATS earns its keep through coordinating many intersections.
Presenter tip: Be honest that actuation is strong at one intersection. Use it to motivate the Advanced level's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per vehicle in Lab F3 (SUMO, one intersection, one hour). What to notice: fixed time is clearly worst; actuated and SCATS are close, with SCATS slightly ahead. Results from the repository's SUMO run (seed 1).
Try it with the audience: Stops per vehicle in Lab F3 were 0.64 (fixed) and 0.565 (SCATS). By what percentage did SCATS cut stops?
Answer: (0.64 − 0.565) ÷ 0.64 = 0.075 ÷ 0.64 = 11.7% fewer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Finish times are Lab F3 delays: fixed 20.4 s, actuated 15.0 s, SCATS 14.3 s; the chart-reading captain = SCATS's strategic layer.
Recap: Three controllers: fixed ignores traffic, actuated gaps out, SCATS gaps out and re-plans each cycle. Lab F3 delay: 20.4 / 15.0 / 14.3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plan is a suit tailored for one day's traffic. Webster's formula is the tailor. SCATS, in effect, re-measures the customer every cycle.
Fixed-time plans are usually designed with Webster's formula (1958). It balances lost time against queueing for one assumed demand. Each phase's flow ratio y is its flow q divided by its saturation flow s; Y adds up the critical ones; L is the total lost time per cycle.
The formula gives the cycle with the least delay, and shares the effective green in proportion to the flow ratios. As Y approaches 1 the cycle grows without limit: the intersection is near capacity.
SCATS needs no design day, but it does need calibration. Lab F2 overloaded the main road and measured h = 1.62 s and a maximum flow MF ≈ 1730 veh/h, the values the controller uses.
Presenter tip: Compute the Webster example together. Then explain that SCATS replaces the design day with measurement, which is why calibration of h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Webster's optimum cycle as demand grows (L = 10 s). What to notice: the cycle grows slowly at first, then shoots up as Y nears 1. At Y = 0.85 it is already 133 s. Computed from C0 = 20 ÷ (1 − Y).
Try it with the audience: Use Webster with L = 12 s, yA = 0.45, yB = 0.25. Find C0 and both greens.
Answer: Y = 0.70. C0 = (18 + 5) ÷ 0.30 = 76.7 s. Green to share = 64.7 s. Main 64.7 × 0.45/0.70 = 41.6 s; side 64.7 × 0.25/0.70 = 23.1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Tailor = Webster's formula C0 = (1.5L + 5)/(1 − Y) for one design day; popping buttons = demand changing; the re-measuring assistant = SCATS re-solving every cycle; 1.62 = calibrated h.
Recap: Webster and calibration: C0 = (1.5L + 5)/(1 − Y) designs one fixed plan; SCATS re-solves every cycle but needs calibrated h (1.62 s) and MF (≈ 1730 veh/h).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Green = 90 − 10 = 80 s; 80 × 0.70 = 56 s. 63 s forgets to remove the intergreens.
Answer: B. Desired = 100 × 0.72 ÷ 0.9 = 80 s, but the step is limited to −6 s, giving 94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SCATS 14.27 s, actuated 14.96 s, fixed 20.44 s.
Answer: C. DS is measured in time: a long vehicle covers the loop longer, leaving less gap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Bridge entrance: At the start of the bridge a conductor in a huge coat waves a baton at the traffic lights. Instead of one score she flips between four thick music books, and after every bar she scribbles a red mark on the page she just played. (Conductor = coordinated; red marks after every bar = adaptive grading of each cycle; four music books = the library of split plans (plan-based).)
Stop 2, Double-decker tram: Halfway across the bridge a double-decker tram rattles by. Downstairs a driver slaps a big button every single second, shouting 'empty, next!'. Upstairs a captain with a clipboard looks through a telescope and, once a lap, turns a dial by exactly six clicks. (Downstairs driver = tactical control every second (gap-out, skip); upstairs captain = strategic control once per cycle; six clicks = the ±6 s cycle step.)
Stop 3, Pizza clock tower: On a tower above the bridge, the clock face is a giant pizza. The hand sweeps round once per cycle. Two slices, one big and one small, are painted A and B, and a thick burnt crust between them crunches loudly every time the hand passes. (Whole pizza = cycle; slices = phases; slice sizes = split; burnt crust = intergreen (lost time); the hand's start time vs the next tower = offset.)
Stop 4, Ice-cream cart: By the bridge's far pylon an ice-cream seller serves a queue. Between customers she holds up a ruler 1.6 long; any gap longer than the ruler, she drops a cone in a bin labelled WASTED. A scoreboard shows 'used ÷ open time'. (Ruler = h (1.6 s); cones in the bin = wasted green T − n·h; the scoreboard = DS = g′ ÷ g.)
Stop 5, Ferry race: Below the bridge three ferries race to the quay. A rusty clockwork ferry chugs in at twenty and a half. A jumpy speedboat arrives at fifteen, and just ahead of it, at fourteen and a quarter, glides a ferry whose captain studies a chart after every lap. (Finish times are Lab F3 delays: fixed 20.4 s, actuated 15.0 s, SCATS 14.3 s; the chart-reading captain = SCATS's strategic layer.)
Stop 6, Tailor at the opera house: On the opera house steps a tailor stitches a suit onto a dancer. His tape measure is printed '1.5 L + 5', and the suit fits perfectly until the dancer eats a giant pie and the buttons fly off. Next door an assistant re-measures a second dancer after every pirouette, holding a ruler marked 1.62. (Tailor = Webster's formula C0 = (1.5L + 5)/(1 − Y) for one design day; popping buttons = demand changing; the re-measuring assistant = SCATS re-solving every cycle; 1.62 = calibrated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SCATS Learning Lab · Foundation</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The traffic light that grades its own green time</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How SCATS watches one loop per lane, measures how much of each green was really used, and adjusts the next cycle.</a:t>
            </a:r>
            <a:endParaRPr lang="en-US" sz="1600" dirty="0"/>
          </a:p>
        </p:txBody>
      </p:sp>
      <p:sp>
        <p:nvSpPr>
          <p:cNvPr id="4" name="level pill"/>
          <p:cNvSpPr/>
          <p:nvPr/>
        </p:nvSpPr>
        <p:spPr>
          <a:xfrm>
            <a:off x="548640" y="502920"/>
            <a:ext cx="2377440" cy="384048"/>
          </a:xfrm>
          <a:prstGeom prst="roundRect">
            <a:avLst>
              <a:gd name="adj" fmla="val 19048"/>
            </a:avLst>
          </a:prstGeom>
          <a:solidFill>
            <a:srgbClr val="F2B526"/>
          </a:solidFill>
          <a:ln w="12700">
            <a:solidFill>
              <a:srgbClr val="F2B526"/>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SCATS · Level 1 · Foundation</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smrahmanbd.github.io/scats-learning-lab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6 ideas, each building on the last</a:t>
            </a:r>
            <a:endParaRPr lang="en-US" sz="2400" dirty="0"/>
          </a:p>
        </p:txBody>
      </p:sp>
      <p:sp>
        <p:nvSpPr>
          <p:cNvPr id="3" name="concept card 1"/>
          <p:cNvSpPr/>
          <p:nvPr/>
        </p:nvSpPr>
        <p:spPr>
          <a:xfrm>
            <a:off x="411480" y="1005840"/>
            <a:ext cx="2651760" cy="1417320"/>
          </a:xfrm>
          <a:prstGeom prst="roundRect">
            <a:avLst>
              <a:gd name="adj" fmla="val 5161"/>
            </a:avLst>
          </a:prstGeom>
          <a:solidFill>
            <a:srgbClr val="EEF2F6"/>
          </a:solidFill>
          <a:ln w="12700">
            <a:solidFill>
              <a:srgbClr val="EEF2F6"/>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What SCATS is</a:t>
            </a:r>
            <a:endParaRPr lang="en-US" sz="1300" dirty="0"/>
          </a:p>
        </p:txBody>
      </p:sp>
      <p:sp>
        <p:nvSpPr>
          <p:cNvPr id="7" name="Text 5"/>
          <p:cNvSpPr txBox="1"/>
          <p:nvPr/>
        </p:nvSpPr>
        <p:spPr>
          <a:xfrm>
            <a:off x="54864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60,000+  intersections reported to run SCATS worldwide</a:t>
            </a:r>
            <a:endParaRPr lang="en-US" sz="1050" dirty="0"/>
          </a:p>
        </p:txBody>
      </p:sp>
      <p:sp>
        <p:nvSpPr>
          <p:cNvPr id="8" name="concept card 2"/>
          <p:cNvSpPr/>
          <p:nvPr/>
        </p:nvSpPr>
        <p:spPr>
          <a:xfrm>
            <a:off x="3246120" y="1005840"/>
            <a:ext cx="2651760" cy="1417320"/>
          </a:xfrm>
          <a:prstGeom prst="roundRect">
            <a:avLst>
              <a:gd name="adj" fmla="val 5161"/>
            </a:avLst>
          </a:prstGeom>
          <a:solidFill>
            <a:srgbClr val="EEF2F6"/>
          </a:solidFill>
          <a:ln w="12700">
            <a:solidFill>
              <a:srgbClr val="EEF2F6"/>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Two levels of control</a:t>
            </a:r>
            <a:endParaRPr lang="en-US" sz="1300" dirty="0"/>
          </a:p>
        </p:txBody>
      </p:sp>
      <p:sp>
        <p:nvSpPr>
          <p:cNvPr id="12" name="Text 10"/>
          <p:cNvSpPr txBox="1"/>
          <p:nvPr/>
        </p:nvSpPr>
        <p:spPr>
          <a:xfrm>
            <a:off x="338328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±6 s  largest normal cycle change per cycle (this lab)</a:t>
            </a:r>
            <a:endParaRPr lang="en-US" sz="1050" dirty="0"/>
          </a:p>
        </p:txBody>
      </p:sp>
      <p:sp>
        <p:nvSpPr>
          <p:cNvPr id="13" name="concept card 3"/>
          <p:cNvSpPr/>
          <p:nvPr/>
        </p:nvSpPr>
        <p:spPr>
          <a:xfrm>
            <a:off x="6080760" y="1005840"/>
            <a:ext cx="2651760" cy="1417320"/>
          </a:xfrm>
          <a:prstGeom prst="roundRect">
            <a:avLst>
              <a:gd name="adj" fmla="val 5161"/>
            </a:avLst>
          </a:prstGeom>
          <a:solidFill>
            <a:srgbClr val="EEF2F6"/>
          </a:solidFill>
          <a:ln w="12700">
            <a:solidFill>
              <a:srgbClr val="EEF2F6"/>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timing vocabulary</a:t>
            </a:r>
            <a:endParaRPr lang="en-US" sz="1300" dirty="0"/>
          </a:p>
        </p:txBody>
      </p:sp>
      <p:sp>
        <p:nvSpPr>
          <p:cNvPr id="17" name="Text 15"/>
          <p:cNvSpPr txBox="1"/>
          <p:nvPr/>
        </p:nvSpPr>
        <p:spPr>
          <a:xfrm>
            <a:off x="621792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48 / 32 s  greens of a 90 s cycle split 60/40</a:t>
            </a:r>
            <a:endParaRPr lang="en-US" sz="1050" dirty="0"/>
          </a:p>
        </p:txBody>
      </p:sp>
      <p:sp>
        <p:nvSpPr>
          <p:cNvPr id="18" name="concept card 4"/>
          <p:cNvSpPr/>
          <p:nvPr/>
        </p:nvSpPr>
        <p:spPr>
          <a:xfrm>
            <a:off x="411480" y="2587752"/>
            <a:ext cx="2651760" cy="1417320"/>
          </a:xfrm>
          <a:prstGeom prst="roundRect">
            <a:avLst>
              <a:gd name="adj" fmla="val 5161"/>
            </a:avLst>
          </a:prstGeom>
          <a:solidFill>
            <a:srgbClr val="EEF2F6"/>
          </a:solidFill>
          <a:ln w="12700">
            <a:solidFill>
              <a:srgbClr val="EEF2F6"/>
            </a:solidFill>
            <a:prstDash val="solid"/>
          </a:ln>
        </p:spPr>
      </p:sp>
      <p:sp>
        <p:nvSpPr>
          <p:cNvPr id="19" name="dot 4"/>
          <p:cNvSpPr/>
          <p:nvPr/>
        </p:nvSpPr>
        <p:spPr>
          <a:xfrm>
            <a:off x="548640" y="2724912"/>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Measuring demand: the degree of saturation</a:t>
            </a:r>
            <a:endParaRPr lang="en-US" sz="1300" dirty="0"/>
          </a:p>
        </p:txBody>
      </p:sp>
      <p:sp>
        <p:nvSpPr>
          <p:cNvPr id="22" name="Text 20"/>
          <p:cNvSpPr txBox="1"/>
          <p:nvPr/>
        </p:nvSpPr>
        <p:spPr>
          <a:xfrm>
            <a:off x="54864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DS 0.90  g 40 s, T 20 s, 10 cars, h 1.6 s</a:t>
            </a:r>
            <a:endParaRPr lang="en-US" sz="1050" dirty="0"/>
          </a:p>
        </p:txBody>
      </p:sp>
      <p:sp>
        <p:nvSpPr>
          <p:cNvPr id="23" name="concept card 5"/>
          <p:cNvSpPr/>
          <p:nvPr/>
        </p:nvSpPr>
        <p:spPr>
          <a:xfrm>
            <a:off x="3246120" y="2587752"/>
            <a:ext cx="2651760" cy="1417320"/>
          </a:xfrm>
          <a:prstGeom prst="roundRect">
            <a:avLst>
              <a:gd name="adj" fmla="val 5161"/>
            </a:avLst>
          </a:prstGeom>
          <a:solidFill>
            <a:srgbClr val="EEF2F6"/>
          </a:solidFill>
          <a:ln w="12700">
            <a:solidFill>
              <a:srgbClr val="EEF2F6"/>
            </a:solidFill>
            <a:prstDash val="solid"/>
          </a:ln>
        </p:spPr>
      </p:sp>
      <p:sp>
        <p:nvSpPr>
          <p:cNvPr id="24" name="dot 5"/>
          <p:cNvSpPr/>
          <p:nvPr/>
        </p:nvSpPr>
        <p:spPr>
          <a:xfrm>
            <a:off x="3383280" y="2724912"/>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Fixed time, actuated and SCATS</a:t>
            </a:r>
            <a:endParaRPr lang="en-US" sz="1300" dirty="0"/>
          </a:p>
        </p:txBody>
      </p:sp>
      <p:sp>
        <p:nvSpPr>
          <p:cNvPr id="27" name="Text 25"/>
          <p:cNvSpPr txBox="1"/>
          <p:nvPr/>
        </p:nvSpPr>
        <p:spPr>
          <a:xfrm>
            <a:off x="338328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−30%  SCATS delay vs fixed time in Lab F3</a:t>
            </a:r>
            <a:endParaRPr lang="en-US" sz="1050" dirty="0"/>
          </a:p>
        </p:txBody>
      </p:sp>
      <p:sp>
        <p:nvSpPr>
          <p:cNvPr id="28" name="concept card 6"/>
          <p:cNvSpPr/>
          <p:nvPr/>
        </p:nvSpPr>
        <p:spPr>
          <a:xfrm>
            <a:off x="6080760" y="2587752"/>
            <a:ext cx="2651760" cy="1417320"/>
          </a:xfrm>
          <a:prstGeom prst="roundRect">
            <a:avLst>
              <a:gd name="adj" fmla="val 5161"/>
            </a:avLst>
          </a:prstGeom>
          <a:solidFill>
            <a:srgbClr val="EEF2F6"/>
          </a:solidFill>
          <a:ln w="12700">
            <a:solidFill>
              <a:srgbClr val="EEF2F6"/>
            </a:solidFill>
            <a:prstDash val="solid"/>
          </a:ln>
        </p:spPr>
      </p:sp>
      <p:sp>
        <p:nvSpPr>
          <p:cNvPr id="29" name="dot 6"/>
          <p:cNvSpPr/>
          <p:nvPr/>
        </p:nvSpPr>
        <p:spPr>
          <a:xfrm>
            <a:off x="6217920" y="2724912"/>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Where fixed-time plans come from</a:t>
            </a:r>
            <a:endParaRPr lang="en-US" sz="1300" dirty="0"/>
          </a:p>
        </p:txBody>
      </p:sp>
      <p:sp>
        <p:nvSpPr>
          <p:cNvPr id="32" name="Text 30"/>
          <p:cNvSpPr txBox="1"/>
          <p:nvPr/>
        </p:nvSpPr>
        <p:spPr>
          <a:xfrm>
            <a:off x="621792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h = 1.62 s  calibrated standard space time (Lab F2)</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2F6"/>
          </a:solidFill>
          <a:ln w="12700">
            <a:solidFill>
              <a:srgbClr val="EEF2F6"/>
            </a:solidFill>
            <a:prstDash val="solid"/>
          </a:ln>
        </p:spPr>
      </p:sp>
      <p:sp>
        <p:nvSpPr>
          <p:cNvPr id="4" name="Shape 2"/>
          <p:cNvSpPr/>
          <p:nvPr/>
        </p:nvSpPr>
        <p:spPr>
          <a:xfrm>
            <a:off x="411480" y="1005840"/>
            <a:ext cx="2651760" cy="82296"/>
          </a:xfrm>
          <a:prstGeom prst="rect">
            <a:avLst/>
          </a:prstGeom>
          <a:solidFill>
            <a:srgbClr val="F2B526"/>
          </a:solidFill>
          <a:ln w="12700">
            <a:solidFill>
              <a:srgbClr val="F2B526"/>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SCATS measures empty road.</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Instead of counting cars, SCATS adds up the moments when nothing is over the loop during green. Wasted green is easy to see; used green is whatever is left.</a:t>
            </a:r>
            <a:endParaRPr lang="en-US" sz="1150" dirty="0"/>
          </a:p>
        </p:txBody>
      </p:sp>
      <p:sp>
        <p:nvSpPr>
          <p:cNvPr id="7" name="hook 2"/>
          <p:cNvSpPr/>
          <p:nvPr/>
        </p:nvSpPr>
        <p:spPr>
          <a:xfrm>
            <a:off x="3218688" y="1005840"/>
            <a:ext cx="2651760" cy="3566160"/>
          </a:xfrm>
          <a:prstGeom prst="roundRect">
            <a:avLst>
              <a:gd name="adj" fmla="val 2759"/>
            </a:avLst>
          </a:prstGeom>
          <a:solidFill>
            <a:srgbClr val="EEF2F6"/>
          </a:solidFill>
          <a:ln w="12700">
            <a:solidFill>
              <a:srgbClr val="EEF2F6"/>
            </a:solidFill>
            <a:prstDash val="solid"/>
          </a:ln>
        </p:spPr>
      </p:sp>
      <p:sp>
        <p:nvSpPr>
          <p:cNvPr id="8" name="Shape 6"/>
          <p:cNvSpPr/>
          <p:nvPr/>
        </p:nvSpPr>
        <p:spPr>
          <a:xfrm>
            <a:off x="3218688" y="1005840"/>
            <a:ext cx="2651760" cy="82296"/>
          </a:xfrm>
          <a:prstGeom prst="rect">
            <a:avLst/>
          </a:prstGeom>
          <a:solidFill>
            <a:srgbClr val="F2B526"/>
          </a:solidFill>
          <a:ln w="12700">
            <a:solidFill>
              <a:srgbClr val="F2B526"/>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It runs on a huge scale.</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SCATS was developed in Sydney from the 1970s and is owned today by Transport for NSW. It is reported to run more than 60,000 intersections in over 200 cities.</a:t>
            </a:r>
            <a:endParaRPr lang="en-US" sz="1150" dirty="0"/>
          </a:p>
        </p:txBody>
      </p:sp>
      <p:sp>
        <p:nvSpPr>
          <p:cNvPr id="11" name="hook 3"/>
          <p:cNvSpPr/>
          <p:nvPr/>
        </p:nvSpPr>
        <p:spPr>
          <a:xfrm>
            <a:off x="6025896" y="1005840"/>
            <a:ext cx="2651760" cy="3566160"/>
          </a:xfrm>
          <a:prstGeom prst="roundRect">
            <a:avLst>
              <a:gd name="adj" fmla="val 2759"/>
            </a:avLst>
          </a:prstGeom>
          <a:solidFill>
            <a:srgbClr val="EEF2F6"/>
          </a:solidFill>
          <a:ln w="12700">
            <a:solidFill>
              <a:srgbClr val="EEF2F6"/>
            </a:solidFill>
            <a:prstDash val="solid"/>
          </a:ln>
        </p:spPr>
      </p:sp>
      <p:sp>
        <p:nvSpPr>
          <p:cNvPr id="12" name="Shape 10"/>
          <p:cNvSpPr/>
          <p:nvPr/>
        </p:nvSpPr>
        <p:spPr>
          <a:xfrm>
            <a:off x="6025896" y="1005840"/>
            <a:ext cx="2651760" cy="82296"/>
          </a:xfrm>
          <a:prstGeom prst="rect">
            <a:avLst/>
          </a:prstGeom>
          <a:solidFill>
            <a:srgbClr val="F2B526"/>
          </a:solidFill>
          <a:ln w="12700">
            <a:solidFill>
              <a:srgbClr val="F2B526"/>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 truck is handled fairly without being recognised.</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A truck covers the loop for longer, so it leaves less empty time, exactly as it uses more green. SCATS never needs to know it was a truck.</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Intersection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place where roads meet and traffic lights take turns.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Phase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set of movements that get green together, for example 'main road both ways' (phase A).</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Cycle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One full turn through all phases, including the changeover times, for example 90 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Split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How the green time is shared between phases, for example 60% to A and 40% to B.</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Intergreen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Amber plus all-red between two phases. Nobody moves much, so it is 'lost' time.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Offset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When one intersection's cycle starts compared with its neighbour, so a green wave can form.</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Stop-line loop</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wire loop in the road just before the stop line that knows when a vehicle is over it.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Degree of saturation (DS)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How much of a green was really used: 1 means fully used, 0.4 means mostly empty road.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Subsystem</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small group of intersections that share one cycle length.</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What SCATS is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SCATS is like a teacher marking homework every day instead of once a year. Each day she sees what went wrong and adjusts tomorrow's lesson a little. Small daily fixes keep the class on track.</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Adaptive: timings change every cycle</a:t>
            </a:r>
            <a:endParaRPr lang="en-US" sz="1600" dirty="0"/>
          </a:p>
          <a:p>
            <a:pPr marL="342900" indent="-342900">
              <a:spcAft>
                <a:spcPts val="800"/>
              </a:spcAft>
              <a:buSzPct val="100000"/>
              <a:buChar char="•"/>
            </a:pPr>
            <a:r>
              <a:rPr lang="en-US" sz="1600" dirty="0">
                <a:solidFill>
                  <a:schemeClr val="tx1"/>
                </a:solidFill>
              </a:rPr>
              <a:t>Coordinated: neighbours share a cycle</a:t>
            </a:r>
            <a:endParaRPr lang="en-US" sz="1600" dirty="0"/>
          </a:p>
          <a:p>
            <a:pPr marL="342900" indent="-342900">
              <a:spcAft>
                <a:spcPts val="800"/>
              </a:spcAft>
              <a:buSzPct val="100000"/>
              <a:buChar char="•"/>
            </a:pPr>
            <a:r>
              <a:rPr lang="en-US" sz="1600" dirty="0">
                <a:solidFill>
                  <a:schemeClr val="tx1"/>
                </a:solidFill>
              </a:rPr>
              <a:t>Plan-based: chooses from approved plans</a:t>
            </a:r>
            <a:endParaRPr lang="en-US" sz="1600" dirty="0"/>
          </a:p>
          <a:p>
            <a:pPr marL="342900" indent="-342900">
              <a:spcAft>
                <a:spcPts val="800"/>
              </a:spcAft>
              <a:buSzPct val="100000"/>
              <a:buChar char="•"/>
            </a:pPr>
            <a:r>
              <a:rPr lang="en-US" sz="1600" dirty="0">
                <a:solidFill>
                  <a:schemeClr val="tx1"/>
                </a:solidFill>
              </a:rPr>
              <a:t>Grades each green, nudges the next</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60,000+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intersections reported to run SCATS worldwide</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How often does SCATS think?</a:t>
            </a:r>
            <a:endParaRPr lang="en-US" sz="2400" dirty="0"/>
          </a:p>
        </p:txBody>
      </p:sp>
      <p:sp>
        <p:nvSpPr>
          <p:cNvPr id="3" name="Text 1"/>
          <p:cNvSpPr txBox="1"/>
          <p:nvPr/>
        </p:nvSpPr>
        <p:spPr>
          <a:xfrm>
            <a:off x="411480" y="896112"/>
            <a:ext cx="4160520" cy="3813048"/>
          </a:xfrm>
          <a:prstGeom prst="rect">
            <a:avLst/>
          </a:prstGeom>
          <a:noFill/>
          <a:ln/>
        </p:spPr>
        <p:txBody>
          <a:bodyPr wrap="square" lIns="254" tIns="254" rIns="254" bIns="254" rtlCol="0" anchor="t"/>
          <a:lstStyle/>
          <a:p>
            <a:pPr indent="0" marL="0">
              <a:buNone/>
            </a:pPr>
            <a:r>
              <a:rPr lang="en-US" sz="1100" i="1" dirty="0">
                <a:solidFill>
                  <a:srgbClr val="444444"/>
                </a:solidFill>
              </a:rPr>
              <a:t>One intersection running a 90 s cycle for one hour.</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Cycles per hour = 3600 ÷ 90 = </a:t>
            </a:r>
            <a:pPr indent="0" marL="0">
              <a:buNone/>
            </a:pPr>
            <a:r>
              <a:rPr lang="en-US" sz="1150" b="1" dirty="0">
                <a:solidFill>
                  <a:srgbClr val="000000"/>
                </a:solidFill>
              </a:rPr>
              <a:t>40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Strategic decisions (cycle length, split, offset) happen once per cycle: </a:t>
            </a:r>
            <a:pPr indent="0" marL="0">
              <a:buNone/>
            </a:pPr>
            <a:r>
              <a:rPr lang="en-US" sz="1150" b="1" dirty="0">
                <a:solidFill>
                  <a:srgbClr val="000000"/>
                </a:solidFill>
              </a:rPr>
              <a:t>40</a:t>
            </a:r>
            <a:pPr indent="0" marL="0">
              <a:buNone/>
            </a:pPr>
            <a:r>
              <a:rPr lang="en-US" sz="1150" dirty="0">
                <a:solidFill>
                  <a:srgbClr val="000000"/>
                </a:solidFill>
              </a:rPr>
              <a:t> per hour.</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Tactical checks (should this green end now?) happen every second: 3600 per hour.</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So for every strategic decision there are 3600 ÷ 40 = </a:t>
            </a:r>
            <a:pPr indent="0" marL="0">
              <a:buNone/>
            </a:pPr>
            <a:r>
              <a:rPr lang="en-US" sz="1150" b="1" dirty="0">
                <a:solidFill>
                  <a:srgbClr val="000000"/>
                </a:solidFill>
              </a:rPr>
              <a:t>90</a:t>
            </a:r>
            <a:pPr indent="0" marL="0">
              <a:buNone/>
            </a:pPr>
            <a:r>
              <a:rPr lang="en-US" sz="1150" dirty="0">
                <a:solidFill>
                  <a:srgbClr val="000000"/>
                </a:solidFill>
              </a:rPr>
              <a:t> tactical checks.</a:t>
            </a:r>
            <a:endParaRPr lang="en-US" sz="1100" dirty="0"/>
          </a:p>
          <a:p>
            <a:pPr indent="0" marL="0">
              <a:buNone/>
            </a:pPr>
            <a:r>
              <a:rPr lang="en-US" sz="1150" b="1" dirty="0">
                <a:solidFill>
                  <a:schemeClr val="tx2"/>
                </a:solidFill>
              </a:rPr>
              <a:t>Forty careful decisions an hour, each backed by ninety quick checks. Each correction can be small because another one is coming within two minutes.</a:t>
            </a:r>
            <a:endParaRPr lang="en-US" sz="1100" dirty="0"/>
          </a:p>
        </p:txBody>
      </p:sp>
      <p:pic>
        <p:nvPicPr>
          <p:cNvPr id="4" name="Image 0" descr="From the loop to the next cycle.">    </p:cNvPr>
          <p:cNvPicPr>
            <a:picLocks noChangeAspect="1"/>
          </p:cNvPicPr>
          <p:nvPr/>
        </p:nvPicPr>
        <p:blipFill>
          <a:blip r:embed="rId1"/>
          <a:stretch>
            <a:fillRect/>
          </a:stretch>
        </p:blipFill>
        <p:spPr>
          <a:xfrm>
            <a:off x="4709160" y="1720032"/>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What SCATS is</a:t>
            </a:r>
            <a:endParaRPr lang="en-US" sz="2400" dirty="0"/>
          </a:p>
        </p:txBody>
      </p:sp>
      <p:pic>
        <p:nvPicPr>
          <p:cNvPr id="3" name="Image 0" descr="Mind map of What SCATS is">    </p:cNvPr>
          <p:cNvPicPr>
            <a:picLocks noChangeAspect="1"/>
          </p:cNvPicPr>
          <p:nvPr/>
        </p:nvPicPr>
        <p:blipFill>
          <a:blip r:embed="rId1"/>
          <a:stretch>
            <a:fillRect/>
          </a:stretch>
        </p:blipFill>
        <p:spPr>
          <a:xfrm>
            <a:off x="411480" y="1216152"/>
            <a:ext cx="8321040" cy="1545336"/>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BRIDGE ENTRANCE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start of the bridge a conductor in a huge coat waves a baton at the traffic lights. Instead of one score she flips between four thick music books, and after every bar she scribbles a red mark on the page she just played.</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Adaptive does not mean 'anything goes'. SCATS keeps the cycle between a minimum and a maximum, changes it by a few seconds at a time, and picks splits from a small library of approved plans.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Two levels of control</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restaurant has waiters and a manager. Waiters react every second: this table is empty, serve the next one. The manager looks at the whole evening and decides how many tables and staff tonight needs.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Tactical: every second, in the controller</a:t>
            </a:r>
            <a:endParaRPr lang="en-US" sz="1600" dirty="0"/>
          </a:p>
          <a:p>
            <a:pPr marL="342900" indent="-342900">
              <a:spcAft>
                <a:spcPts val="800"/>
              </a:spcAft>
              <a:buSzPct val="100000"/>
              <a:buChar char="•"/>
            </a:pPr>
            <a:r>
              <a:rPr lang="en-US" sz="1600" dirty="0">
                <a:solidFill>
                  <a:schemeClr val="tx1"/>
                </a:solidFill>
              </a:rPr>
              <a:t>Gap-out ends empty greens early</a:t>
            </a:r>
            <a:endParaRPr lang="en-US" sz="1600" dirty="0"/>
          </a:p>
          <a:p>
            <a:pPr marL="342900" indent="-342900">
              <a:spcAft>
                <a:spcPts val="800"/>
              </a:spcAft>
              <a:buSzPct val="100000"/>
              <a:buChar char="•"/>
            </a:pPr>
            <a:r>
              <a:rPr lang="en-US" sz="1600" dirty="0">
                <a:solidFill>
                  <a:schemeClr val="tx1"/>
                </a:solidFill>
              </a:rPr>
              <a:t>Strategic: every cycle, regional computer</a:t>
            </a:r>
            <a:endParaRPr lang="en-US" sz="1600" dirty="0"/>
          </a:p>
          <a:p>
            <a:pPr marL="342900" indent="-342900">
              <a:spcAft>
                <a:spcPts val="800"/>
              </a:spcAft>
              <a:buSzPct val="100000"/>
              <a:buChar char="•"/>
            </a:pPr>
            <a:r>
              <a:rPr lang="en-US" sz="1600" dirty="0">
                <a:solidFill>
                  <a:schemeClr val="tx1"/>
                </a:solidFill>
              </a:rPr>
              <a:t>Cycle steered towards DS 0.9</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largest normal cycle change per cycle (this lab)</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Two cycle-length decisions</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desired cycle = current cycle × DS ÷ 0.9</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The cycle is 80 s. Case 1: the busiest phase had DS 0.99. Case 2: it had DS 0.60.</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Case 1 desired: 80 × 0.99 ÷ 0.9 = </a:t>
            </a:r>
            <a:pPr indent="0" marL="0">
              <a:buNone/>
            </a:pPr>
            <a:r>
              <a:rPr lang="en-US" sz="1150" b="1" dirty="0">
                <a:solidFill>
                  <a:srgbClr val="000000"/>
                </a:solidFill>
              </a:rPr>
              <a:t>88 s</a:t>
            </a:r>
            <a:pPr indent="0" marL="0">
              <a:buNone/>
            </a:pPr>
            <a:r>
              <a:rPr lang="en-US" sz="1150" dirty="0">
                <a:solidFill>
                  <a:srgbClr val="000000"/>
                </a:solidFill>
              </a:rPr>
              <a:t>, which is 8 s longer.</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DS is below 1, so the step limit is +6 s: new cycle = 80 + 6 = </a:t>
            </a:r>
            <a:pPr indent="0" marL="0">
              <a:buNone/>
            </a:pPr>
            <a:r>
              <a:rPr lang="en-US" sz="1150" b="1" dirty="0">
                <a:solidFill>
                  <a:srgbClr val="000000"/>
                </a:solidFill>
              </a:rPr>
              <a:t>86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Case 2 desired: 80 × 0.60 ÷ 0.9 = </a:t>
            </a:r>
            <a:pPr indent="0" marL="0">
              <a:buNone/>
            </a:pPr>
            <a:r>
              <a:rPr lang="en-US" sz="1150" b="1" dirty="0">
                <a:solidFill>
                  <a:srgbClr val="000000"/>
                </a:solidFill>
              </a:rPr>
              <a:t>53.3 s</a:t>
            </a:r>
            <a:pPr indent="0" marL="0">
              <a:buNone/>
            </a:pPr>
            <a:r>
              <a:rPr lang="en-US" sz="1150" dirty="0">
                <a:solidFill>
                  <a:srgbClr val="000000"/>
                </a:solidFill>
              </a:rPr>
              <a:t>, which is 26.7 s shorter.</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The step limit is −6 s: new cycle = 80 − 6 = </a:t>
            </a:r>
            <a:pPr indent="0" marL="0">
              <a:buNone/>
            </a:pPr>
            <a:r>
              <a:rPr lang="en-US" sz="1150" b="1" dirty="0">
                <a:solidFill>
                  <a:srgbClr val="000000"/>
                </a:solidFill>
              </a:rPr>
              <a:t>74 s</a:t>
            </a:r>
            <a:pPr indent="0" marL="0">
              <a:buNone/>
            </a:pPr>
            <a:r>
              <a:rPr lang="en-US" sz="1150" dirty="0">
                <a:solidFill>
                  <a:srgbClr val="000000"/>
                </a:solidFill>
              </a:rPr>
              <a:t>.</a:t>
            </a:r>
            <a:endParaRPr lang="en-US" sz="1100" dirty="0"/>
          </a:p>
          <a:p>
            <a:pPr indent="0" marL="0">
              <a:buNone/>
            </a:pPr>
            <a:r>
              <a:rPr lang="en-US" sz="1150" b="1" dirty="0">
                <a:solidFill>
                  <a:schemeClr val="tx2"/>
                </a:solidFill>
              </a:rPr>
              <a:t>SCATS moves towards the cycle that would give DS 0.9, but only a few seconds per cycle, so one odd cycle cannot swing the timings.</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Two levels</a:t>
            </a:r>
            <a:endParaRPr lang="en-US" sz="2400" dirty="0"/>
          </a:p>
        </p:txBody>
      </p:sp>
      <p:pic>
        <p:nvPicPr>
          <p:cNvPr id="3" name="Image 0" descr="Mind map of Two levels of control">    </p:cNvPr>
          <p:cNvPicPr>
            <a:picLocks noChangeAspect="1"/>
          </p:cNvPicPr>
          <p:nvPr/>
        </p:nvPicPr>
        <p:blipFill>
          <a:blip r:embed="rId1"/>
          <a:stretch>
            <a:fillRect/>
          </a:stretch>
        </p:blipFill>
        <p:spPr>
          <a:xfrm>
            <a:off x="411480" y="901876"/>
            <a:ext cx="8321040" cy="2173888"/>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DOUBLE-DECKER TRAM</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Halfway across the bridge a double-decker tram rattles by. Downstairs a driver slaps a big button every single second, shouting 'empty, next!'. Upstairs a captain with a clipboard looks through a telescope and, once a lap, turns a dial by exactly six clicks.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Gap-out is tactical, not strategic. Ending a green early because the road emptied happens in the local controller within seconds; it is not a decision of the regional computer.</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The timing vocabulary</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cycle is a pizza. Each phase gets a slice; the split says how big each slice is. The crust between slices is the intergreen: it comes with every slice and nobody really eats it.</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Phase: movements that run together</a:t>
            </a:r>
            <a:endParaRPr lang="en-US" sz="1600" dirty="0"/>
          </a:p>
          <a:p>
            <a:pPr marL="342900" indent="-342900">
              <a:spcAft>
                <a:spcPts val="800"/>
              </a:spcAft>
              <a:buSzPct val="100000"/>
              <a:buChar char="•"/>
            </a:pPr>
            <a:r>
              <a:rPr lang="en-US" sz="1600" dirty="0">
                <a:solidFill>
                  <a:schemeClr val="tx1"/>
                </a:solidFill>
              </a:rPr>
              <a:t>Cycle: all phases, intergreens included</a:t>
            </a:r>
            <a:endParaRPr lang="en-US" sz="1600" dirty="0"/>
          </a:p>
          <a:p>
            <a:pPr marL="342900" indent="-342900">
              <a:spcAft>
                <a:spcPts val="800"/>
              </a:spcAft>
              <a:buSzPct val="100000"/>
              <a:buChar char="•"/>
            </a:pPr>
            <a:r>
              <a:rPr lang="en-US" sz="1600" dirty="0">
                <a:solidFill>
                  <a:schemeClr val="tx1"/>
                </a:solidFill>
              </a:rPr>
              <a:t>Split: how green is shared</a:t>
            </a:r>
            <a:endParaRPr lang="en-US" sz="1600" dirty="0"/>
          </a:p>
          <a:p>
            <a:pPr marL="342900" indent="-342900">
              <a:spcAft>
                <a:spcPts val="800"/>
              </a:spcAft>
              <a:buSzPct val="100000"/>
              <a:buChar char="•"/>
            </a:pPr>
            <a:r>
              <a:rPr lang="en-US" sz="1600" dirty="0">
                <a:solidFill>
                  <a:schemeClr val="tx1"/>
                </a:solidFill>
              </a:rPr>
              <a:t>Intergreen: amber plus all-red, lost</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48 / 32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greens of a 90 s cycle split 60/40</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Building a 90 s cycle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total green = cycle − (number of phases × intergreen)</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green</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total green × split share</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Two phases, 5 s intergreen each, split 60% to A and 40% to B.</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Lost time = 2 × 5 = </a:t>
            </a:r>
            <a:pPr indent="0" marL="0">
              <a:buNone/>
            </a:pPr>
            <a:r>
              <a:rPr lang="en-US" sz="1150" b="1" dirty="0">
                <a:solidFill>
                  <a:srgbClr val="000000"/>
                </a:solidFill>
              </a:rPr>
              <a:t>10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Total green = 90 − 10 = </a:t>
            </a:r>
            <a:pPr indent="0" marL="0">
              <a:buNone/>
            </a:pPr>
            <a:r>
              <a:rPr lang="en-US" sz="1150" b="1" dirty="0">
                <a:solidFill>
                  <a:srgbClr val="000000"/>
                </a:solidFill>
              </a:rPr>
              <a:t>80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Phase A green = 80 × 0.60 = </a:t>
            </a:r>
            <a:pPr indent="0" marL="0">
              <a:buNone/>
            </a:pPr>
            <a:r>
              <a:rPr lang="en-US" sz="1150" b="1" dirty="0">
                <a:solidFill>
                  <a:srgbClr val="000000"/>
                </a:solidFill>
              </a:rPr>
              <a:t>48 s</a:t>
            </a:r>
            <a:pPr indent="0" marL="0">
              <a:buNone/>
            </a:pPr>
            <a:r>
              <a:rPr lang="en-US" sz="1150" dirty="0">
                <a:solidFill>
                  <a:srgbClr val="000000"/>
                </a:solidFill>
              </a:rPr>
              <a:t>; phase B green = 80 × 0.40 = </a:t>
            </a:r>
            <a:pPr indent="0" marL="0">
              <a:buNone/>
            </a:pPr>
            <a:r>
              <a:rPr lang="en-US" sz="1150" b="1" dirty="0">
                <a:solidFill>
                  <a:srgbClr val="000000"/>
                </a:solidFill>
              </a:rPr>
              <a:t>32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Share of the cycle lost = 10 ÷ 90 = </a:t>
            </a:r>
            <a:pPr indent="0" marL="0">
              <a:buNone/>
            </a:pPr>
            <a:r>
              <a:rPr lang="en-US" sz="1150" b="1" dirty="0">
                <a:solidFill>
                  <a:srgbClr val="000000"/>
                </a:solidFill>
              </a:rPr>
              <a:t>11.1%</a:t>
            </a:r>
            <a:pPr indent="0" marL="0">
              <a:buNone/>
            </a:pPr>
            <a:r>
              <a:rPr lang="en-US" sz="1150" dirty="0">
                <a:solidFill>
                  <a:srgbClr val="000000"/>
                </a:solidFill>
              </a:rPr>
              <a:t>. With a 60 s cycle it would be 10 ÷ 60 = </a:t>
            </a:r>
            <a:pPr indent="0" marL="0">
              <a:buNone/>
            </a:pPr>
            <a:r>
              <a:rPr lang="en-US" sz="1150" b="1" dirty="0">
                <a:solidFill>
                  <a:srgbClr val="000000"/>
                </a:solidFill>
              </a:rPr>
              <a:t>16.7%</a:t>
            </a:r>
            <a:pPr indent="0" marL="0">
              <a:buNone/>
            </a:pPr>
            <a:r>
              <a:rPr lang="en-US" sz="1150" dirty="0">
                <a:solidFill>
                  <a:srgbClr val="000000"/>
                </a:solidFill>
              </a:rPr>
              <a:t>.</a:t>
            </a:r>
            <a:endParaRPr lang="en-US" sz="1100" dirty="0"/>
          </a:p>
          <a:p>
            <a:pPr indent="0" marL="0">
              <a:buNone/>
            </a:pPr>
            <a:r>
              <a:rPr lang="en-US" sz="1150" b="1" dirty="0">
                <a:solidFill>
                  <a:schemeClr val="tx2"/>
                </a:solidFill>
              </a:rPr>
              <a:t>Longer cycles waste a smaller share of time, but make drivers wait longer at red. Choosing the cycle is a balance.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Timing words</a:t>
            </a:r>
            <a:endParaRPr lang="en-US" sz="2400" dirty="0"/>
          </a:p>
        </p:txBody>
      </p:sp>
      <p:pic>
        <p:nvPicPr>
          <p:cNvPr id="3" name="Image 0" descr="Mind map of The timing vocabulary">    </p:cNvPr>
          <p:cNvPicPr>
            <a:picLocks noChangeAspect="1"/>
          </p:cNvPicPr>
          <p:nvPr/>
        </p:nvPicPr>
        <p:blipFill>
          <a:blip r:embed="rId1"/>
          <a:stretch>
            <a:fillRect/>
          </a:stretch>
        </p:blipFill>
        <p:spPr>
          <a:xfrm>
            <a:off x="895540" y="868680"/>
            <a:ext cx="7352919"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PIZZA CLOCK TOWER</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a tower above the bridge, the clock face is a giant pizza. The hand sweeps round once per cycle. Two slices, one big and one small, are painted A and B, and a thick burnt crust between them crunches loudly every time the hand passes.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The cycle includes the intergreens. A 90 s cycle with two 5 s intergreens has only 80 s of green to share, not 90.</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Measuring demand: the degree of saturation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Think of a supermarket checkout. Even when the queue is endless there is a short pause between customers. Any pause longer than that normal pause is the cashier waiting for nobody: wasted time.</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Loop measures gap time during green</a:t>
            </a:r>
            <a:endParaRPr lang="en-US" sz="1600" dirty="0"/>
          </a:p>
          <a:p>
            <a:pPr marL="342900" indent="-342900">
              <a:spcAft>
                <a:spcPts val="800"/>
              </a:spcAft>
              <a:buSzPct val="100000"/>
              <a:buChar char="•"/>
            </a:pPr>
            <a:r>
              <a:rPr lang="en-US" sz="1600" dirty="0">
                <a:solidFill>
                  <a:schemeClr val="tx1"/>
                </a:solidFill>
              </a:rPr>
              <a:t>Wasted green = T − n·h</a:t>
            </a:r>
            <a:endParaRPr lang="en-US" sz="1600" dirty="0"/>
          </a:p>
          <a:p>
            <a:pPr marL="342900" indent="-342900">
              <a:spcAft>
                <a:spcPts val="800"/>
              </a:spcAft>
              <a:buSzPct val="100000"/>
              <a:buChar char="•"/>
            </a:pPr>
            <a:r>
              <a:rPr lang="en-US" sz="1600" dirty="0">
                <a:solidFill>
                  <a:schemeClr val="tx1"/>
                </a:solidFill>
              </a:rPr>
              <a:t>DS = used green ÷ green</a:t>
            </a:r>
            <a:endParaRPr lang="en-US" sz="1600" dirty="0"/>
          </a:p>
          <a:p>
            <a:pPr marL="342900" indent="-342900">
              <a:spcAft>
                <a:spcPts val="800"/>
              </a:spcAft>
              <a:buSzPct val="100000"/>
              <a:buChar char="•"/>
            </a:pPr>
            <a:r>
              <a:rPr lang="en-US" sz="1600" dirty="0">
                <a:solidFill>
                  <a:schemeClr val="tx1"/>
                </a:solidFill>
              </a:rPr>
              <a:t>VK turns DS into car-equivalents</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DS 0.90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g 40 s, T 20 s, 10 cars, h 1.6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DS and VK from one green</a:t>
            </a:r>
            <a:endParaRPr lang="en-US" sz="2400" dirty="0"/>
          </a:p>
        </p:txBody>
      </p:sp>
      <p:sp>
        <p:nvSpPr>
          <p:cNvPr id="3" name="formula band"/>
          <p:cNvSpPr/>
          <p:nvPr/>
        </p:nvSpPr>
        <p:spPr>
          <a:xfrm>
            <a:off x="411480" y="896112"/>
            <a:ext cx="8321040" cy="1133856"/>
          </a:xfrm>
          <a:prstGeom prst="roundRect">
            <a:avLst>
              <a:gd name="adj" fmla="val 6452"/>
            </a:avLst>
          </a:prstGeom>
          <a:solidFill>
            <a:srgbClr val="EEF2F6"/>
          </a:solidFill>
          <a:ln w="12700">
            <a:solidFill>
              <a:srgbClr val="EEF2F6"/>
            </a:solidFill>
            <a:prstDash val="solid"/>
          </a:ln>
        </p:spPr>
      </p:sp>
      <p:sp>
        <p:nvSpPr>
          <p:cNvPr id="4" name="Text 2"/>
          <p:cNvSpPr txBox="1"/>
          <p:nvPr/>
        </p:nvSpPr>
        <p:spPr>
          <a:xfrm>
            <a:off x="548640" y="896112"/>
            <a:ext cx="8046720" cy="1133856"/>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g′ = g − (T − n·h)</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DS = g′ ÷ g</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VK = DS × g × MF ÷ 3600</a:t>
            </a:r>
            <a:endParaRPr lang="en-US" sz="1350" dirty="0"/>
          </a:p>
        </p:txBody>
      </p:sp>
      <p:sp>
        <p:nvSpPr>
          <p:cNvPr id="5" name="Text 3"/>
          <p:cNvSpPr txBox="1"/>
          <p:nvPr/>
        </p:nvSpPr>
        <p:spPr>
          <a:xfrm>
            <a:off x="411480" y="2139696"/>
            <a:ext cx="4160520" cy="2569464"/>
          </a:xfrm>
          <a:prstGeom prst="rect">
            <a:avLst/>
          </a:prstGeom>
          <a:noFill/>
          <a:ln/>
        </p:spPr>
        <p:txBody>
          <a:bodyPr wrap="square" lIns="254" tIns="254" rIns="254" bIns="254" rtlCol="0" anchor="t"/>
          <a:lstStyle/>
          <a:p>
            <a:pPr indent="0" marL="0">
              <a:buNone/>
            </a:pPr>
            <a:r>
              <a:rPr lang="en-US" sz="1100" i="1" dirty="0">
                <a:solidFill>
                  <a:srgbClr val="444444"/>
                </a:solidFill>
              </a:rPr>
              <a:t>Green g = 40 s. The loop was empty for T = 20 s. n = 10 vehicles crossed. h = 1.6 s, MF = 1800 veh/h.</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Expected gaps: n × h = 10 × 1.6 = </a:t>
            </a:r>
            <a:pPr indent="0" marL="0">
              <a:buNone/>
            </a:pPr>
            <a:r>
              <a:rPr lang="en-US" sz="1150" b="1" dirty="0">
                <a:solidFill>
                  <a:srgbClr val="000000"/>
                </a:solidFill>
              </a:rPr>
              <a:t>16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Wasted green: T − n·h = 20 − 16 = </a:t>
            </a:r>
            <a:pPr indent="0" marL="0">
              <a:buNone/>
            </a:pPr>
            <a:r>
              <a:rPr lang="en-US" sz="1150" b="1" dirty="0">
                <a:solidFill>
                  <a:srgbClr val="000000"/>
                </a:solidFill>
              </a:rPr>
              <a:t>4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Used green: g′ = 40 − 4 = </a:t>
            </a:r>
            <a:pPr indent="0" marL="0">
              <a:buNone/>
            </a:pPr>
            <a:r>
              <a:rPr lang="en-US" sz="1150" b="1" dirty="0">
                <a:solidFill>
                  <a:srgbClr val="000000"/>
                </a:solidFill>
              </a:rPr>
              <a:t>36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DS = 36 ÷ 40 = </a:t>
            </a:r>
            <a:pPr indent="0" marL="0">
              <a:buNone/>
            </a:pPr>
            <a:r>
              <a:rPr lang="en-US" sz="1150" b="1" dirty="0">
                <a:solidFill>
                  <a:srgbClr val="000000"/>
                </a:solidFill>
              </a:rPr>
              <a:t>0.90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VK = 0.90 × 40 × 1800 ÷ 3600 = </a:t>
            </a:r>
            <a:pPr indent="0" marL="0">
              <a:buNone/>
            </a:pPr>
            <a:r>
              <a:rPr lang="en-US" sz="1150" b="1" dirty="0">
                <a:solidFill>
                  <a:srgbClr val="000000"/>
                </a:solidFill>
              </a:rPr>
              <a:t>18</a:t>
            </a:r>
            <a:pPr indent="0" marL="0">
              <a:buNone/>
            </a:pPr>
            <a:r>
              <a:rPr lang="en-US" sz="1150" dirty="0">
                <a:solidFill>
                  <a:srgbClr val="000000"/>
                </a:solidFill>
              </a:rPr>
              <a:t> car-equivalents.</a:t>
            </a:r>
            <a:endParaRPr lang="en-US" sz="1100" dirty="0"/>
          </a:p>
          <a:p>
            <a:pPr indent="0" marL="0">
              <a:buNone/>
            </a:pPr>
            <a:r>
              <a:rPr lang="en-US" sz="1150" b="1" dirty="0">
                <a:solidFill>
                  <a:schemeClr val="tx2"/>
                </a:solidFill>
              </a:rPr>
              <a:t>90% of the green was used: right at the usual target. If h were set wrongly, DS would be wrong too, which is why h is calibrated.</a:t>
            </a:r>
            <a:endParaRPr lang="en-US" sz="1100" dirty="0"/>
          </a:p>
        </p:txBody>
      </p:sp>
      <p:graphicFrame>
        <p:nvGraphicFramePr>
          <p:cNvPr id="6" name="Chart 0" descr=""/>
          <p:cNvGraphicFramePr/>
          <p:nvPr/>
        </p:nvGraphicFramePr>
        <p:xfrm>
          <a:off x="4709160" y="2139696"/>
          <a:ext cx="4023360" cy="2523744"/>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Degree of saturation</a:t>
            </a:r>
            <a:endParaRPr lang="en-US" sz="2400" dirty="0"/>
          </a:p>
        </p:txBody>
      </p:sp>
      <p:pic>
        <p:nvPicPr>
          <p:cNvPr id="3" name="Image 0" descr="Mind map of Measuring demand: the degree of saturation">    </p:cNvPr>
          <p:cNvPicPr>
            <a:picLocks noChangeAspect="1"/>
          </p:cNvPicPr>
          <p:nvPr/>
        </p:nvPicPr>
        <p:blipFill>
          <a:blip r:embed="rId1"/>
          <a:stretch>
            <a:fillRect/>
          </a:stretch>
        </p:blipFill>
        <p:spPr>
          <a:xfrm>
            <a:off x="411480" y="1270218"/>
            <a:ext cx="8321040" cy="1437204"/>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ICE-CREAM CART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By the bridge's far pylon an ice-cream seller serves a queue. Between customers she holds up a ruler 1.6 long; any gap longer than the ruler, she drops a cone in a bin labelled WASTED. A scoreboard shows 'used ÷ open time'.</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DS is not 'number of cars ÷ capacity' counted in vehicles. It is measured in time from the loop's gaps, and it depends on h. A wrong h gives a wrong DS for every cycle.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Fixed time, actuated and SCATS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Fixed time is a lift that stops at every floor whether anyone is waiting or not. Actuated is a lift that skips empty floors. SCATS also skips empty floors, and every few minutes rethinks its whole timetable from how busy it was.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Fixed: one plan, ignores traffic</a:t>
            </a:r>
            <a:endParaRPr lang="en-US" sz="1600" dirty="0"/>
          </a:p>
          <a:p>
            <a:pPr marL="342900" indent="-342900">
              <a:spcAft>
                <a:spcPts val="800"/>
              </a:spcAft>
              <a:buSzPct val="100000"/>
              <a:buChar char="•"/>
            </a:pPr>
            <a:r>
              <a:rPr lang="en-US" sz="1600" dirty="0">
                <a:solidFill>
                  <a:schemeClr val="tx1"/>
                </a:solidFill>
              </a:rPr>
              <a:t>Actuated: ends empty greens early</a:t>
            </a:r>
            <a:endParaRPr lang="en-US" sz="1600" dirty="0"/>
          </a:p>
          <a:p>
            <a:pPr marL="342900" indent="-342900">
              <a:spcAft>
                <a:spcPts val="800"/>
              </a:spcAft>
              <a:buSzPct val="100000"/>
              <a:buChar char="•"/>
            </a:pPr>
            <a:r>
              <a:rPr lang="en-US" sz="1600" dirty="0">
                <a:solidFill>
                  <a:schemeClr val="tx1"/>
                </a:solidFill>
              </a:rPr>
              <a:t>SCATS: also re-plans every cycle</a:t>
            </a:r>
            <a:endParaRPr lang="en-US" sz="1600" dirty="0"/>
          </a:p>
          <a:p>
            <a:pPr marL="342900" indent="-342900">
              <a:spcAft>
                <a:spcPts val="800"/>
              </a:spcAft>
              <a:buSzPct val="100000"/>
              <a:buChar char="•"/>
            </a:pPr>
            <a:r>
              <a:rPr lang="en-US" sz="1600" dirty="0">
                <a:solidFill>
                  <a:schemeClr val="tx1"/>
                </a:solidFill>
              </a:rPr>
              <a:t>Lab F3: 20.4 vs 15.0 vs 14.3 s</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SCATS delay vs fixed time in Lab F3</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How big are the differences?</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improvement = (old − new) ÷ old × 100%</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Lab F3 mean delays: fixed 20.44 s, actuated 14.96 s, SCATS 14.27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SCATS vs fixed: (20.44 − 14.27) ÷ 20.44 = 6.17 ÷ 20.44 = </a:t>
            </a:r>
            <a:pPr indent="0" marL="0">
              <a:buNone/>
            </a:pPr>
            <a:r>
              <a:rPr lang="en-US" sz="1150" b="1" dirty="0">
                <a:solidFill>
                  <a:srgbClr val="000000"/>
                </a:solidFill>
              </a:rPr>
              <a:t>30.2%</a:t>
            </a:r>
            <a:pPr indent="0" marL="0">
              <a:buNone/>
            </a:pPr>
            <a:r>
              <a:rPr lang="en-US" sz="1150" dirty="0">
                <a:solidFill>
                  <a:srgbClr val="000000"/>
                </a:solidFill>
              </a:rPr>
              <a:t> less delay.</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SCATS vs actuated: (14.96 − 14.27) ÷ 14.96 = 0.69 ÷ 14.96 = </a:t>
            </a:r>
            <a:pPr indent="0" marL="0">
              <a:buNone/>
            </a:pPr>
            <a:r>
              <a:rPr lang="en-US" sz="1150" b="1" dirty="0">
                <a:solidFill>
                  <a:srgbClr val="000000"/>
                </a:solidFill>
              </a:rPr>
              <a:t>4.6%</a:t>
            </a:r>
            <a:pPr indent="0" marL="0">
              <a:buNone/>
            </a:pPr>
            <a:r>
              <a:rPr lang="en-US" sz="1150" dirty="0">
                <a:solidFill>
                  <a:srgbClr val="000000"/>
                </a:solidFill>
              </a:rPr>
              <a:t> less delay.</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Actuated vs fixed: (20.44 − 14.96) ÷ 20.44 = </a:t>
            </a:r>
            <a:pPr indent="0" marL="0">
              <a:buNone/>
            </a:pPr>
            <a:r>
              <a:rPr lang="en-US" sz="1150" b="1" dirty="0">
                <a:solidFill>
                  <a:srgbClr val="000000"/>
                </a:solidFill>
              </a:rPr>
              <a:t>26.8%</a:t>
            </a:r>
            <a:pPr indent="0" marL="0">
              <a:buNone/>
            </a:pPr>
            <a:r>
              <a:rPr lang="en-US" sz="1150" dirty="0">
                <a:solidFill>
                  <a:srgbClr val="000000"/>
                </a:solidFill>
              </a:rPr>
              <a:t> less delay.</a:t>
            </a:r>
            <a:endParaRPr lang="en-US" sz="1100" dirty="0"/>
          </a:p>
          <a:p>
            <a:pPr indent="0" marL="0">
              <a:buNone/>
            </a:pPr>
            <a:r>
              <a:rPr lang="en-US" sz="1150" b="1" dirty="0">
                <a:solidFill>
                  <a:schemeClr val="tx2"/>
                </a:solidFill>
              </a:rPr>
              <a:t>Most of the gain over fixed time comes from reacting to gaps; SCATS's strategic layer adds a little more at a single intersection.</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Three controllers</a:t>
            </a:r>
            <a:endParaRPr lang="en-US" sz="2400" dirty="0"/>
          </a:p>
        </p:txBody>
      </p:sp>
      <p:pic>
        <p:nvPicPr>
          <p:cNvPr id="3" name="Image 0" descr="Mind map of Fixed time, actuated and SCATS">    </p:cNvPr>
          <p:cNvPicPr>
            <a:picLocks noChangeAspect="1"/>
          </p:cNvPicPr>
          <p:nvPr/>
        </p:nvPicPr>
        <p:blipFill>
          <a:blip r:embed="rId1"/>
          <a:stretch>
            <a:fillRect/>
          </a:stretch>
        </p:blipFill>
        <p:spPr>
          <a:xfrm>
            <a:off x="411480" y="1052180"/>
            <a:ext cx="8321040" cy="1873279"/>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FERRY RACE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Below the bridge three ferries race to the quay. A rusty clockwork ferry chugs in at twenty and a half. A jumpy speedboat arrives at fifteen, and just ahead of it, at fourteen and a quarter, glides a ferry whose captain studies a chart after every lap.</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conclude 'SCATS is only 5% better than actuation'. This test is one isolated intersection. Coordination across a corridor, which actuation cannot do, is where the bigger gains appear.</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Where fixed-time plans come from</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Webster is a tailor who measures you once and sews a perfect suit. It fits beautifully on that day. If you gain weight or wear a coat underneath, the suit no longer fits, and nobody re-measures you.</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Webster designs one fixed plan</a:t>
            </a:r>
            <a:endParaRPr lang="en-US" sz="1600" dirty="0"/>
          </a:p>
          <a:p>
            <a:pPr marL="342900" indent="-342900">
              <a:spcAft>
                <a:spcPts val="800"/>
              </a:spcAft>
              <a:buSzPct val="100000"/>
              <a:buChar char="•"/>
            </a:pPr>
            <a:r>
              <a:rPr lang="en-US" sz="1600" dirty="0">
                <a:solidFill>
                  <a:schemeClr val="tx1"/>
                </a:solidFill>
              </a:rPr>
              <a:t>C0 = (1.5L + 5) ÷ (1 − Y)</a:t>
            </a:r>
            <a:endParaRPr lang="en-US" sz="1600" dirty="0"/>
          </a:p>
          <a:p>
            <a:pPr marL="342900" indent="-342900">
              <a:spcAft>
                <a:spcPts val="800"/>
              </a:spcAft>
              <a:buSzPct val="100000"/>
              <a:buChar char="•"/>
            </a:pPr>
            <a:r>
              <a:rPr lang="en-US" sz="1600" dirty="0">
                <a:solidFill>
                  <a:schemeClr val="tx1"/>
                </a:solidFill>
              </a:rPr>
              <a:t>Cycle explodes as Y nears 1</a:t>
            </a:r>
            <a:endParaRPr lang="en-US" sz="1600" dirty="0"/>
          </a:p>
          <a:p>
            <a:pPr marL="342900" indent="-342900">
              <a:spcAft>
                <a:spcPts val="800"/>
              </a:spcAft>
              <a:buSzPct val="100000"/>
              <a:buChar char="•"/>
            </a:pPr>
            <a:r>
              <a:rPr lang="en-US" sz="1600" dirty="0">
                <a:solidFill>
                  <a:schemeClr val="tx1"/>
                </a:solidFill>
              </a:rPr>
              <a:t>SCATS needs calibrated h and MF</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h = 1.62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calibrated standard space time (Lab F2)</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Webster for a two-phase intersection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a:t>
            </a:r>
            <a:pPr algn="ctr" indent="0" marL="0">
              <a:buNone/>
            </a:pPr>
            <a:r>
              <a:rPr lang="en-US" sz="1350" baseline="-40000" dirty="0">
                <a:solidFill>
                  <a:schemeClr val="tx2"/>
                </a:solidFill>
                <a:latin typeface="Cambria" pitchFamily="34" charset="0"/>
                <a:ea typeface="Cambria" pitchFamily="34" charset="-122"/>
                <a:cs typeface="Cambria" pitchFamily="34" charset="-120"/>
              </a:rPr>
              <a:t>0</a:t>
            </a:r>
            <a:pPr algn="ctr" indent="0" marL="0">
              <a:buNone/>
            </a:pPr>
            <a:r>
              <a:rPr lang="en-US" sz="1350" dirty="0">
                <a:solidFill>
                  <a:schemeClr val="tx2"/>
                </a:solidFill>
                <a:latin typeface="Cambria" pitchFamily="34" charset="0"/>
                <a:ea typeface="Cambria" pitchFamily="34" charset="-122"/>
                <a:cs typeface="Cambria" pitchFamily="34" charset="-120"/>
              </a:rPr>
              <a:t> = (1.5 L + 5) ÷ (1 − Y)</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g</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(C</a:t>
            </a:r>
            <a:pPr algn="ctr" indent="0" marL="0">
              <a:buNone/>
            </a:pPr>
            <a:r>
              <a:rPr lang="en-US" sz="1350" baseline="-40000" dirty="0">
                <a:solidFill>
                  <a:schemeClr val="tx2"/>
                </a:solidFill>
                <a:latin typeface="Cambria" pitchFamily="34" charset="0"/>
                <a:ea typeface="Cambria" pitchFamily="34" charset="-122"/>
                <a:cs typeface="Cambria" pitchFamily="34" charset="-120"/>
              </a:rPr>
              <a:t>0</a:t>
            </a:r>
            <a:pPr algn="ctr" indent="0" marL="0">
              <a:buNone/>
            </a:pPr>
            <a:r>
              <a:rPr lang="en-US" sz="1350" dirty="0">
                <a:solidFill>
                  <a:schemeClr val="tx2"/>
                </a:solidFill>
                <a:latin typeface="Cambria" pitchFamily="34" charset="0"/>
                <a:ea typeface="Cambria" pitchFamily="34" charset="-122"/>
                <a:cs typeface="Cambria" pitchFamily="34" charset="-120"/>
              </a:rPr>
              <a:t> − L) × y</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Y</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Lost time L = 10 s. Main road y</a:t>
            </a:r>
            <a:pPr indent="0" marL="0">
              <a:buNone/>
            </a:pPr>
            <a:r>
              <a:rPr lang="en-US" sz="1100" i="1" baseline="-40000" dirty="0">
                <a:solidFill>
                  <a:srgbClr val="444444"/>
                </a:solidFill>
              </a:rPr>
              <a:t>A</a:t>
            </a:r>
            <a:pPr indent="0" marL="0">
              <a:buNone/>
            </a:pPr>
            <a:r>
              <a:rPr lang="en-US" sz="1100" i="1" dirty="0">
                <a:solidFill>
                  <a:srgbClr val="444444"/>
                </a:solidFill>
              </a:rPr>
              <a:t> = 0.40, side road y</a:t>
            </a:r>
            <a:pPr indent="0" marL="0">
              <a:buNone/>
            </a:pPr>
            <a:r>
              <a:rPr lang="en-US" sz="1100" i="1" baseline="-40000" dirty="0">
                <a:solidFill>
                  <a:srgbClr val="444444"/>
                </a:solidFill>
              </a:rPr>
              <a:t>B</a:t>
            </a:r>
            <a:pPr indent="0" marL="0">
              <a:buNone/>
            </a:pPr>
            <a:r>
              <a:rPr lang="en-US" sz="1100" i="1" dirty="0">
                <a:solidFill>
                  <a:srgbClr val="444444"/>
                </a:solidFill>
              </a:rPr>
              <a:t> = 0.20.</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Y = 0.40 + 0.20 = </a:t>
            </a:r>
            <a:pPr indent="0" marL="0">
              <a:buNone/>
            </a:pPr>
            <a:r>
              <a:rPr lang="en-US" sz="1150" b="1" dirty="0">
                <a:solidFill>
                  <a:srgbClr val="000000"/>
                </a:solidFill>
              </a:rPr>
              <a:t>0.60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C</a:t>
            </a:r>
            <a:pPr indent="0" marL="0">
              <a:buNone/>
            </a:pPr>
            <a:r>
              <a:rPr lang="en-US" sz="1150" baseline="-40000" dirty="0">
                <a:solidFill>
                  <a:srgbClr val="000000"/>
                </a:solidFill>
              </a:rPr>
              <a:t>0</a:t>
            </a:r>
            <a:pPr indent="0" marL="0">
              <a:buNone/>
            </a:pPr>
            <a:r>
              <a:rPr lang="en-US" sz="1150" dirty="0">
                <a:solidFill>
                  <a:srgbClr val="000000"/>
                </a:solidFill>
              </a:rPr>
              <a:t> = (1.5 × 10 + 5) ÷ (1 − 0.60) = 20 ÷ 0.40 = </a:t>
            </a:r>
            <a:pPr indent="0" marL="0">
              <a:buNone/>
            </a:pPr>
            <a:r>
              <a:rPr lang="en-US" sz="1150" b="1" dirty="0">
                <a:solidFill>
                  <a:srgbClr val="000000"/>
                </a:solidFill>
              </a:rPr>
              <a:t>50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Green to share = 50 − 10 = </a:t>
            </a:r>
            <a:pPr indent="0" marL="0">
              <a:buNone/>
            </a:pPr>
            <a:r>
              <a:rPr lang="en-US" sz="1150" b="1" dirty="0">
                <a:solidFill>
                  <a:srgbClr val="000000"/>
                </a:solidFill>
              </a:rPr>
              <a:t>40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Main road: 40 × 0.40 ÷ 0.60 = </a:t>
            </a:r>
            <a:pPr indent="0" marL="0">
              <a:buNone/>
            </a:pPr>
            <a:r>
              <a:rPr lang="en-US" sz="1150" b="1" dirty="0">
                <a:solidFill>
                  <a:srgbClr val="000000"/>
                </a:solidFill>
              </a:rPr>
              <a:t>26.7 s</a:t>
            </a:r>
            <a:pPr indent="0" marL="0">
              <a:buNone/>
            </a:pPr>
            <a:r>
              <a:rPr lang="en-US" sz="1150" dirty="0">
                <a:solidFill>
                  <a:srgbClr val="000000"/>
                </a:solidFill>
              </a:rPr>
              <a:t>. Side road: 40 × 0.20 ÷ 0.60 = </a:t>
            </a:r>
            <a:pPr indent="0" marL="0">
              <a:buNone/>
            </a:pPr>
            <a:r>
              <a:rPr lang="en-US" sz="1150" b="1" dirty="0">
                <a:solidFill>
                  <a:srgbClr val="000000"/>
                </a:solidFill>
              </a:rPr>
              <a:t>13.3 s</a:t>
            </a:r>
            <a:pPr indent="0" marL="0">
              <a:buNone/>
            </a:pPr>
            <a:r>
              <a:rPr lang="en-US" sz="1150" dirty="0">
                <a:solidFill>
                  <a:srgbClr val="000000"/>
                </a:solidFill>
              </a:rPr>
              <a:t>.</a:t>
            </a:r>
            <a:endParaRPr lang="en-US" sz="1100" dirty="0"/>
          </a:p>
          <a:p>
            <a:pPr indent="0" marL="0">
              <a:buNone/>
            </a:pPr>
            <a:r>
              <a:rPr lang="en-US" sz="1150" b="1" dirty="0">
                <a:solidFill>
                  <a:schemeClr val="tx2"/>
                </a:solidFill>
              </a:rPr>
              <a:t>A good fixed plan for exactly these flows: 50 s cycle, 26.7 s and 13.3 s of effective green.</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Webster &amp; calibration</a:t>
            </a:r>
            <a:endParaRPr lang="en-US" sz="2400" dirty="0"/>
          </a:p>
        </p:txBody>
      </p:sp>
      <p:pic>
        <p:nvPicPr>
          <p:cNvPr id="3" name="Image 0" descr="Mind map of Where fixed-time plans come from">    </p:cNvPr>
          <p:cNvPicPr>
            <a:picLocks noChangeAspect="1"/>
          </p:cNvPicPr>
          <p:nvPr/>
        </p:nvPicPr>
        <p:blipFill>
          <a:blip r:embed="rId1"/>
          <a:stretch>
            <a:fillRect/>
          </a:stretch>
        </p:blipFill>
        <p:spPr>
          <a:xfrm>
            <a:off x="411480" y="1237615"/>
            <a:ext cx="8321040" cy="150241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TAILOR AT THE OPERA HOUSE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the opera house steps a tailor stitches a suit onto a dancer. His tape measure is printed '1.5 L + 5', and the suit fits perfectly until the dancer eats a giant pie and the buttons fly off. Next door an assistant re-measures a second dancer after every pirouette, holding a ruler marked 1.62.</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If Y ≥ 1 no cycle length works: demand exceeds capacity. A huge cycle from Webster is a warning that the intersection is near capacity, not a plan to use.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ways to run a traffic light</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2255520"/>
                <a:gridCol w="2255520"/>
                <a:gridCol w="2255520"/>
              </a:tblGrid>
              <a:tr h="0">
                <a:tc>
                  <a:txBody>
                    <a:bodyPr/>
                    <a:lstStyle/>
                    <a:p>
                      <a:pPr indent="0" marL="0">
                        <a:buNone/>
                      </a:pP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Fixed time</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Actuated</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SCATS</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250" b="1" dirty="0">
                          <a:solidFill>
                            <a:srgbClr val="000000"/>
                          </a:solidFill>
                        </a:rPr>
                        <a:t>Detectors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none needed</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stop-line loops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stop-line loops in every lane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Ends a green early?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yes, by gap-out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yes, by gap-out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Changes the cycle?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 (fixed maximum)</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every cycle, towards DS 0.9</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Coordinates neighbours?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if designed so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yes: subsystems, offsets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Lab F3 delay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20.44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14.96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14.27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300" b="1" dirty="0">
                          <a:solidFill>
                            <a:srgbClr val="000000"/>
                          </a:solidFill>
                        </a:rPr>
                        <a:t>Tactical</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Strategic</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Tactical decides every second in the local controller; strategic decides once per cycle in the regional computer.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Cycle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Total green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The cycle includes the intergreens; total green is what is left after them.</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Gap time 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Wasted green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Wasted green is T minus the normal gaps n·h.</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Vehicle count ÷ capacity</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DS is measured in time from loop gaps, so trucks count for more automatically.</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Adaptive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Unlimited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SCATS changes timings in small steps and from approved plans.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A 90 s cycle has two phases with 5 s intergreen each, split 70/30. What is phase A's green?</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63 s</a:t>
            </a:r>
            <a:endParaRPr lang="en-US" sz="1400" dirty="0"/>
          </a:p>
          <a:p>
            <a:pPr indent="0" marL="0">
              <a:spcAft>
                <a:spcPts val="900"/>
              </a:spcAft>
              <a:buNone/>
            </a:pPr>
            <a:r>
              <a:rPr lang="en-US" sz="1400" dirty="0">
                <a:solidFill>
                  <a:srgbClr val="000000"/>
                </a:solidFill>
              </a:rPr>
              <a:t>B.  56 s</a:t>
            </a:r>
            <a:endParaRPr lang="en-US" sz="1400" dirty="0"/>
          </a:p>
          <a:p>
            <a:pPr indent="0" marL="0">
              <a:spcAft>
                <a:spcPts val="900"/>
              </a:spcAft>
              <a:buNone/>
            </a:pPr>
            <a:r>
              <a:rPr lang="en-US" sz="1400" dirty="0">
                <a:solidFill>
                  <a:srgbClr val="000000"/>
                </a:solidFill>
              </a:rPr>
              <a:t>C.  59.5 s</a:t>
            </a:r>
            <a:endParaRPr lang="en-US" sz="1400" dirty="0"/>
          </a:p>
          <a:p>
            <a:pPr indent="0" marL="0">
              <a:spcAft>
                <a:spcPts val="900"/>
              </a:spcAft>
              <a:buNone/>
            </a:pPr>
            <a:r>
              <a:rPr lang="en-US" sz="1400" dirty="0">
                <a:solidFill>
                  <a:srgbClr val="000000"/>
                </a:solidFill>
              </a:rPr>
              <a:t>D.  45 s</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The cycle is 100 s and the busiest phase had DS 0.72. Using this lab's rule, what is the next cycle?</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80 s</a:t>
            </a:r>
            <a:endParaRPr lang="en-US" sz="1400" dirty="0"/>
          </a:p>
          <a:p>
            <a:pPr indent="0" marL="0">
              <a:spcAft>
                <a:spcPts val="900"/>
              </a:spcAft>
              <a:buNone/>
            </a:pPr>
            <a:r>
              <a:rPr lang="en-US" sz="1400" dirty="0">
                <a:solidFill>
                  <a:srgbClr val="000000"/>
                </a:solidFill>
              </a:rPr>
              <a:t>B.  94 s</a:t>
            </a:r>
            <a:endParaRPr lang="en-US" sz="1400" dirty="0"/>
          </a:p>
          <a:p>
            <a:pPr indent="0" marL="0">
              <a:spcAft>
                <a:spcPts val="900"/>
              </a:spcAft>
              <a:buNone/>
            </a:pPr>
            <a:r>
              <a:rPr lang="en-US" sz="1400" dirty="0">
                <a:solidFill>
                  <a:srgbClr val="000000"/>
                </a:solidFill>
              </a:rPr>
              <a:t>C.  106 s</a:t>
            </a:r>
            <a:endParaRPr lang="en-US" sz="1400" dirty="0"/>
          </a:p>
          <a:p>
            <a:pPr indent="0" marL="0">
              <a:spcAft>
                <a:spcPts val="900"/>
              </a:spcAft>
              <a:buNone/>
            </a:pPr>
            <a:r>
              <a:rPr lang="en-US" sz="1400" dirty="0">
                <a:solidFill>
                  <a:srgbClr val="000000"/>
                </a:solidFill>
              </a:rPr>
              <a:t>D.  100 s</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In Lab F3, which controller had the lowest mean delay?</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Fixed time</a:t>
            </a:r>
            <a:endParaRPr lang="en-US" sz="1400" dirty="0"/>
          </a:p>
          <a:p>
            <a:pPr indent="0" marL="0">
              <a:spcAft>
                <a:spcPts val="900"/>
              </a:spcAft>
              <a:buNone/>
            </a:pPr>
            <a:r>
              <a:rPr lang="en-US" sz="1400" dirty="0">
                <a:solidFill>
                  <a:srgbClr val="000000"/>
                </a:solidFill>
              </a:rPr>
              <a:t>B.  Actuated</a:t>
            </a:r>
            <a:endParaRPr lang="en-US" sz="1400" dirty="0"/>
          </a:p>
          <a:p>
            <a:pPr indent="0" marL="0">
              <a:spcAft>
                <a:spcPts val="900"/>
              </a:spcAft>
              <a:buNone/>
            </a:pPr>
            <a:r>
              <a:rPr lang="en-US" sz="1400" dirty="0">
                <a:solidFill>
                  <a:srgbClr val="000000"/>
                </a:solidFill>
              </a:rPr>
              <a:t>C.  SCATS</a:t>
            </a:r>
            <a:endParaRPr lang="en-US" sz="1400" dirty="0"/>
          </a:p>
          <a:p>
            <a:pPr indent="0" marL="0">
              <a:spcAft>
                <a:spcPts val="900"/>
              </a:spcAft>
              <a:buNone/>
            </a:pPr>
            <a:r>
              <a:rPr lang="en-US" sz="1400" dirty="0">
                <a:solidFill>
                  <a:srgbClr val="000000"/>
                </a:solidFill>
              </a:rPr>
              <a:t>D.  All equal</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A truck and a car pass the loop during a saturated green. How does DS treat the truck?</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Ignores it</a:t>
            </a:r>
            <a:endParaRPr lang="en-US" sz="1400" dirty="0"/>
          </a:p>
          <a:p>
            <a:pPr indent="0" marL="0">
              <a:spcAft>
                <a:spcPts val="900"/>
              </a:spcAft>
              <a:buNone/>
            </a:pPr>
            <a:r>
              <a:rPr lang="en-US" sz="1400" dirty="0">
                <a:solidFill>
                  <a:srgbClr val="000000"/>
                </a:solidFill>
              </a:rPr>
              <a:t>B.  Counts it as one car</a:t>
            </a:r>
            <a:endParaRPr lang="en-US" sz="1400" dirty="0"/>
          </a:p>
          <a:p>
            <a:pPr indent="0" marL="0">
              <a:spcAft>
                <a:spcPts val="900"/>
              </a:spcAft>
              <a:buNone/>
            </a:pPr>
            <a:r>
              <a:rPr lang="en-US" sz="1400" dirty="0">
                <a:solidFill>
                  <a:srgbClr val="000000"/>
                </a:solidFill>
              </a:rPr>
              <a:t>C.  It leaves less empty time, so it raises DS as it uses more green</a:t>
            </a:r>
            <a:endParaRPr lang="en-US" sz="1400" dirty="0"/>
          </a:p>
          <a:p>
            <a:pPr indent="0" marL="0">
              <a:spcAft>
                <a:spcPts val="900"/>
              </a:spcAft>
              <a:buNone/>
            </a:pPr>
            <a:r>
              <a:rPr lang="en-US" sz="1400" dirty="0">
                <a:solidFill>
                  <a:srgbClr val="000000"/>
                </a:solidFill>
              </a:rPr>
              <a:t>D.  It lowers DS</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Bridge entrance = What SCATS is   ·   2 Double-decker tram = Two levels   ·   3 Pizza clock tower = Timing words   ·   4 Ice-cream cart = Degree of saturation   ·   5 Ferry race = Three controllers   ·   6 Tailor at the opera house = Webster &amp; calibration</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Target DS ≈ 0.9</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Cycle 40-140 s, step +6 (+9 if DS ≥ 1) / −6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Gap-out setting 3 s; intergreen 5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h = 1.62 s, MF ≈ 1730 veh/h (Lab F2)</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g 40, T 20, n 10, h 1.6 → DS 0.90, VK 18</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Lab F3 delay: 20.44 / 14.96 / 14.27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Webster: L 10, Y 0.6 → C</a:t>
            </a:r>
            <a:pPr indent="0" marL="0">
              <a:buNone/>
            </a:pPr>
            <a:r>
              <a:rPr lang="en-US" sz="1500" baseline="-40000" dirty="0">
                <a:solidFill>
                  <a:schemeClr val="tx1"/>
                </a:solidFill>
              </a:rPr>
              <a:t>0</a:t>
            </a:r>
            <a:pPr indent="0" marL="0">
              <a:buNone/>
            </a:pPr>
            <a:r>
              <a:rPr lang="en-US" sz="1500" dirty="0">
                <a:solidFill>
                  <a:schemeClr val="tx1"/>
                </a:solidFill>
              </a:rPr>
              <a:t> = 50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SCATS_Foundation_Study_Guide.pdf · Interactive labs and SUMO code: smrahmanbd.github.io/scats-learning-lab</a:t>
            </a:r>
            <a:endParaRPr lang="en-US" sz="1600" dirty="0"/>
          </a:p>
        </p:txBody>
      </p:sp>
    </p:spTree>
  </p:cSld>
  <p:clrMapOvr>
    <a:masterClrMapping/>
  </p:clrMapOvr>
</p:sld>
</file>

<file path=ppt/theme/theme1.xml><?xml version="1.0" encoding="utf-8"?>
<a:theme xmlns:a="http://schemas.openxmlformats.org/drawingml/2006/main" name="SCATS Learning Lab">
  <a:themeElements>
    <a:clrScheme name="SCATS Learning Lab">
      <a:dk1>
        <a:srgbClr val="1A1A1A"/>
      </a:dk1>
      <a:lt1>
        <a:srgbClr val="FFFFFF"/>
      </a:lt1>
      <a:dk2>
        <a:srgbClr val="17324F"/>
      </a:dk2>
      <a:lt2>
        <a:srgbClr val="EEF2F6"/>
      </a:lt2>
      <a:accent1>
        <a:srgbClr val="17324F"/>
      </a:accent1>
      <a:accent2>
        <a:srgbClr val="F2B526"/>
      </a:accent2>
      <a:accent3>
        <a:srgbClr val="8F3520"/>
      </a:accent3>
      <a:accent4>
        <a:srgbClr val="0B3954"/>
      </a:accent4>
      <a:accent5>
        <a:srgbClr val="3F3266"/>
      </a:accent5>
      <a:accent6>
        <a:srgbClr val="5FA8E8"/>
      </a:accent6>
      <a:hlink>
        <a:srgbClr val="0B5CAD"/>
      </a:hlink>
      <a:folHlink>
        <a:srgbClr val="5A2F38"/>
      </a:folHlink>
    </a:clrScheme>
    <a:fontScheme name="SCATS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SCATS Foundation</dc:title>
  <dc:subject>PptxGenJS Presentation</dc:subject>
  <dc:creator>SCOOT/SCATS Learning Lab</dc:creator>
  <cp:lastModifiedBy>SCOOT/SCATS Learning Lab</cp:lastModifiedBy>
  <cp:revision>1</cp:revision>
  <dcterms:created xsi:type="dcterms:W3CDTF">2026-10-25T17:13:03Z</dcterms:created>
  <dcterms:modified xsi:type="dcterms:W3CDTF">2026-10-25T17:13:03Z</dcterms:modified>
</cp:coreProperties>
</file>