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5.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6.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ec831cb-fffa-35be-db63-2b021c8c3538}">
          <p14:sldIdLst>
            <p14:sldId id="256"/>
            <p14:sldId id="257"/>
            <p14:sldId id="258"/>
            <p14:sldId id="259"/>
            <p14:sldId id="260"/>
          </p14:sldIdLst>
        </p14:section>
        <p14:section name="1. Subsystems &amp; CI" id="{bc43ebc7-f081-d50d-7dd2-c9940d4e6106}">
          <p14:sldIdLst>
            <p14:sldId id="261"/>
            <p14:sldId id="262"/>
            <p14:sldId id="263"/>
          </p14:sldIdLst>
        </p14:section>
        <p14:section name="2. Cycle length" id="{53e1a384-61cc-2569-7580-9a1ed709761c}">
          <p14:sldIdLst>
            <p14:sldId id="264"/>
            <p14:sldId id="265"/>
            <p14:sldId id="266"/>
          </p14:sldIdLst>
        </p14:section>
        <p14:section name="3. Split plans" id="{6c1dc8d0-985c-ef90-8118-28685db8a6b6}">
          <p14:sldIdLst>
            <p14:sldId id="267"/>
            <p14:sldId id="268"/>
            <p14:sldId id="269"/>
          </p14:sldIdLst>
        </p14:section>
        <p14:section name="4. Offsets" id="{9513fbba-e0bb-1d01-4913-3b0ac924c015}">
          <p14:sldIdLst>
            <p14:sldId id="270"/>
            <p14:sldId id="271"/>
            <p14:sldId id="272"/>
          </p14:sldIdLst>
        </p14:section>
        <p14:section name="5. Marriage" id="{aded13f9-86f0-18c7-f591-a2294196dc71}">
          <p14:sldIdLst>
            <p14:sldId id="273"/>
            <p14:sldId id="274"/>
            <p14:sldId id="275"/>
          </p14:sldIdLst>
        </p14:section>
        <p14:section name="6. Tactical control" id="{14cba1f7-672b-ce1f-3e0c-21e4f421daaf}">
          <p14:sldIdLst>
            <p14:sldId id="276"/>
            <p14:sldId id="277"/>
            <p14:sldId id="278"/>
          </p14:sldIdLst>
        </p14:section>
        <p14:section name="7. Bus priority" id="{e520a32c-4218-c648-027f-c831a6739f6d}">
          <p14:sldIdLst>
            <p14:sldId id="279"/>
            <p14:sldId id="280"/>
            <p14:sldId id="281"/>
          </p14:sldIdLst>
        </p14:section>
        <p14:section name="8. Modes &amp; ablation" id="{bd034c32-8167-b564-acc1-639477f8fb4a}">
          <p14:sldIdLst>
            <p14:sldId id="282"/>
            <p14:sldId id="283"/>
            <p14:sldId id="284"/>
          </p14:sldIdLst>
        </p14:section>
        <p14:section name="Wrap-up" id="{18f5c449-6925-0b5f-1ba5-773a73e67ace}">
          <p14:sldIdLst>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A simulated rush hour at the CI.</a:t>
            </a:r>
          </a:p>
        </c:rich>
      </c:tx>
      <c:layout/>
      <c:overlay val="0"/>
    </c:title>
    <c:autoTitleDeleted val="0"/>
    <c:plotArea>
      <c:layout/>
      <c:lineChart>
        <c:varyColors val="0"/>
        <c:ser>
          <c:idx val="0"/>
          <c:order val="0"/>
          <c:tx>
            <c:strRef>
              <c:f>Sheet1!$B$1</c:f>
              <c:strCache>
                <c:ptCount val="1"/>
                <c:pt idx="0">
                  <c:v>cycle (s)</c:v>
                </c:pt>
              </c:strCache>
            </c:strRef>
          </c:tx>
          <c:spPr>
            <a:solidFill>
              <a:srgbClr val="17324F"/>
            </a:solidFill>
            <a:ln w="28575" cap="flat">
              <a:solidFill>
                <a:srgbClr val="1732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324F"/>
              </a:solidFill>
              <a:ln w="9525" cap="flat">
                <a:solidFill>
                  <a:srgbClr val="17324F"/>
                </a:solidFill>
                <a:prstDash val="solid"/>
                <a:round/>
              </a:ln>
              <a:effectLst/>
            </c:spPr>
          </c:marker>
          <c:cat>
            <c:multiLvlStrRef>
              <c:f>Sheet1!$A$2:$A$17</c:f>
              <c:multiLvlStrCache>
                <c:ptCount val="1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lvl>
              </c:multiLvlStrCache>
            </c:multiLvlStrRef>
          </c:cat>
          <c:val>
            <c:numRef>
              <c:f>Sheet1!$B$2:$B$17</c:f>
              <c:numCache>
                <c:formatCode>General</c:formatCode>
                <c:ptCount val="16"/>
                <c:pt idx="0">
                  <c:v>60</c:v>
                </c:pt>
                <c:pt idx="1">
                  <c:v>54</c:v>
                </c:pt>
                <c:pt idx="2">
                  <c:v>55</c:v>
                </c:pt>
                <c:pt idx="3">
                  <c:v>62</c:v>
                </c:pt>
                <c:pt idx="4">
                  <c:v>71</c:v>
                </c:pt>
                <c:pt idx="5">
                  <c:v>80</c:v>
                </c:pt>
                <c:pt idx="6">
                  <c:v>89</c:v>
                </c:pt>
                <c:pt idx="7">
                  <c:v>98</c:v>
                </c:pt>
                <c:pt idx="8">
                  <c:v>107</c:v>
                </c:pt>
                <c:pt idx="9">
                  <c:v>112</c:v>
                </c:pt>
                <c:pt idx="10">
                  <c:v>108</c:v>
                </c:pt>
                <c:pt idx="11">
                  <c:v>102</c:v>
                </c:pt>
                <c:pt idx="12">
                  <c:v>96</c:v>
                </c:pt>
                <c:pt idx="13">
                  <c:v>90</c:v>
                </c:pt>
                <c:pt idx="14">
                  <c:v>84</c:v>
                </c:pt>
                <c:pt idx="15">
                  <c:v>78</c:v>
                </c:pt>
              </c:numCache>
            </c:numRef>
          </c:val>
          <c:smooth val="0"/>
        </c:ser>
        <c:ser>
          <c:idx val="1"/>
          <c:order val="1"/>
          <c:tx>
            <c:strRef>
              <c:f>Sheet1!$C$1</c:f>
              <c:strCache>
                <c:ptCount val="1"/>
                <c:pt idx="0">
                  <c:v>DS × 100</c:v>
                </c:pt>
              </c:strCache>
            </c:strRef>
          </c:tx>
          <c:spPr>
            <a:solidFill>
              <a:srgbClr val="F2B526"/>
            </a:solidFill>
            <a:ln w="28575" cap="flat">
              <a:solidFill>
                <a:srgbClr val="F2B5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B526"/>
              </a:solidFill>
              <a:ln w="9525" cap="flat">
                <a:solidFill>
                  <a:srgbClr val="F2B526"/>
                </a:solidFill>
                <a:prstDash val="solid"/>
                <a:round/>
              </a:ln>
              <a:effectLst/>
            </c:spPr>
          </c:marker>
          <c:cat>
            <c:multiLvlStrRef>
              <c:f>Sheet1!$A$2:$A$17</c:f>
              <c:multiLvlStrCache>
                <c:ptCount val="16"/>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lvl>
              </c:multiLvlStrCache>
            </c:multiLvlStrRef>
          </c:cat>
          <c:val>
            <c:numRef>
              <c:f>Sheet1!$C$2:$C$17</c:f>
              <c:numCache>
                <c:formatCode>General</c:formatCode>
                <c:ptCount val="16"/>
                <c:pt idx="0">
                  <c:v>75</c:v>
                </c:pt>
                <c:pt idx="1">
                  <c:v>92</c:v>
                </c:pt>
                <c:pt idx="2">
                  <c:v>101</c:v>
                </c:pt>
                <c:pt idx="3">
                  <c:v>105</c:v>
                </c:pt>
                <c:pt idx="4">
                  <c:v>108</c:v>
                </c:pt>
                <c:pt idx="5">
                  <c:v>110</c:v>
                </c:pt>
                <c:pt idx="6">
                  <c:v>109</c:v>
                </c:pt>
                <c:pt idx="7">
                  <c:v>103</c:v>
                </c:pt>
                <c:pt idx="8">
                  <c:v>94</c:v>
                </c:pt>
                <c:pt idx="9">
                  <c:v>87</c:v>
                </c:pt>
                <c:pt idx="10">
                  <c:v>82</c:v>
                </c:pt>
                <c:pt idx="11">
                  <c:v>75</c:v>
                </c:pt>
                <c:pt idx="12">
                  <c:v>68</c:v>
                </c:pt>
                <c:pt idx="13">
                  <c:v>62</c:v>
                </c:pt>
                <c:pt idx="14">
                  <c:v>59</c:v>
                </c:pt>
                <c:pt idx="15">
                  <c:v>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cycle number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3"/>
      </c:catAx>
      <c:valAx>
        <c:axId val="2094734552"/>
        <c:scaling>
          <c:orientation val="minMax"/>
          <c:max val="125"/>
          <c:min val="4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seconds / DS × 100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Highest predicted DS under each plan.</a:t>
            </a:r>
          </a:p>
        </c:rich>
      </c:tx>
      <c:layout/>
      <c:overlay val="0"/>
    </c:title>
    <c:autoTitleDeleted val="0"/>
    <c:plotArea>
      <c:layout/>
      <c:barChart>
        <c:barDir val="col"/>
        <c:grouping val="clustered"/>
        <c:varyColors val="0"/>
        <c:ser>
          <c:idx val="0"/>
          <c:order val="0"/>
          <c:tx>
            <c:strRef>
              <c:f>Sheet1!$B$1</c:f>
              <c:strCache>
                <c:ptCount val="1"/>
                <c:pt idx="0">
                  <c:v>highest phase DS</c:v>
                </c:pt>
              </c:strCache>
            </c:strRef>
          </c:tx>
          <c:spPr>
            <a:solidFill>
              <a:srgbClr val="2F5A1C"/>
            </a:solidFill>
            <a:effectLst/>
          </c:spPr>
          <c:invertIfNegative val="0"/>
          <c:dLbls>
            <c:numFmt formatCode="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SP1 40/15/20</c:v>
                  </c:pt>
                  <c:pt idx="1">
                    <c:v>SP2 45/12/18</c:v>
                  </c:pt>
                  <c:pt idx="2">
                    <c:v>SP3 35/15/25</c:v>
                  </c:pt>
                </c:lvl>
              </c:multiLvlStrCache>
            </c:multiLvlStrRef>
          </c:cat>
          <c:val>
            <c:numRef>
              <c:f>Sheet1!$B$2:$B$4</c:f>
              <c:numCache>
                <c:formatCode>General</c:formatCode>
                <c:ptCount val="3"/>
                <c:pt idx="0">
                  <c:v>0.95</c:v>
                </c:pt>
                <c:pt idx="1">
                  <c:v>0.84</c:v>
                </c:pt>
                <c:pt idx="2">
                  <c:v>1.09</c:v>
                </c:pt>
              </c:numCache>
            </c:numRef>
          </c:val>
        </c:ser>
        <c:dLbls>
          <c:numFmt formatCode="0.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highest phase 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Link VK and the marriage state.</a:t>
            </a:r>
          </a:p>
        </c:rich>
      </c:tx>
      <c:layout/>
      <c:overlay val="0"/>
    </c:title>
    <c:autoTitleDeleted val="0"/>
    <c:plotArea>
      <c:layout/>
      <c:lineChart>
        <c:varyColors val="0"/>
        <c:ser>
          <c:idx val="0"/>
          <c:order val="0"/>
          <c:tx>
            <c:strRef>
              <c:f>Sheet1!$B$1</c:f>
              <c:strCache>
                <c:ptCount val="1"/>
                <c:pt idx="0">
                  <c:v>link VK</c:v>
                </c:pt>
              </c:strCache>
            </c:strRef>
          </c:tx>
          <c:spPr>
            <a:solidFill>
              <a:srgbClr val="17324F"/>
            </a:solidFill>
            <a:ln w="28575" cap="flat">
              <a:solidFill>
                <a:srgbClr val="1732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324F"/>
              </a:solidFill>
              <a:ln w="9525" cap="flat">
                <a:solidFill>
                  <a:srgbClr val="17324F"/>
                </a:solidFill>
                <a:prstDash val="solid"/>
                <a:round/>
              </a:ln>
              <a:effectLst/>
            </c:spPr>
          </c:marker>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12</c:v>
                </c:pt>
                <c:pt idx="1">
                  <c:v>15</c:v>
                </c:pt>
                <c:pt idx="2">
                  <c:v>19</c:v>
                </c:pt>
                <c:pt idx="3">
                  <c:v>20</c:v>
                </c:pt>
                <c:pt idx="4">
                  <c:v>17</c:v>
                </c:pt>
                <c:pt idx="5">
                  <c:v>21</c:v>
                </c:pt>
                <c:pt idx="6">
                  <c:v>22</c:v>
                </c:pt>
                <c:pt idx="7">
                  <c:v>23</c:v>
                </c:pt>
                <c:pt idx="8">
                  <c:v>16</c:v>
                </c:pt>
                <c:pt idx="9">
                  <c:v>12</c:v>
                </c:pt>
                <c:pt idx="10">
                  <c:v>9</c:v>
                </c:pt>
                <c:pt idx="11">
                  <c:v>11</c:v>
                </c:pt>
                <c:pt idx="12">
                  <c:v>8</c:v>
                </c:pt>
                <c:pt idx="13">
                  <c:v>7</c:v>
                </c:pt>
                <c:pt idx="14">
                  <c:v>6</c:v>
                </c:pt>
              </c:numCache>
            </c:numRef>
          </c:val>
          <c:smooth val="0"/>
        </c:ser>
        <c:ser>
          <c:idx val="1"/>
          <c:order val="1"/>
          <c:tx>
            <c:strRef>
              <c:f>Sheet1!$C$1</c:f>
              <c:strCache>
                <c:ptCount val="1"/>
                <c:pt idx="0">
                  <c:v>married</c:v>
                </c:pt>
              </c:strCache>
            </c:strRef>
          </c:tx>
          <c:spPr>
            <a:solidFill>
              <a:srgbClr val="F2B526"/>
            </a:solidFill>
            <a:ln w="28575" cap="flat">
              <a:solidFill>
                <a:srgbClr val="F2B5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B526"/>
              </a:solidFill>
              <a:ln w="9525" cap="flat">
                <a:solidFill>
                  <a:srgbClr val="F2B526"/>
                </a:solidFill>
                <a:prstDash val="solid"/>
                <a:round/>
              </a:ln>
              <a:effectLst/>
            </c:spPr>
          </c:marker>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Sheet1!$C$2:$C$16</c:f>
              <c:numCache>
                <c:formatCode>General</c:formatCode>
                <c:ptCount val="15"/>
                <c:pt idx="0">
                  <c:v>0</c:v>
                </c:pt>
                <c:pt idx="1">
                  <c:v>0</c:v>
                </c:pt>
                <c:pt idx="2">
                  <c:v>0</c:v>
                </c:pt>
                <c:pt idx="3">
                  <c:v>0</c:v>
                </c:pt>
                <c:pt idx="4">
                  <c:v>0</c:v>
                </c:pt>
                <c:pt idx="5">
                  <c:v>0</c:v>
                </c:pt>
                <c:pt idx="6">
                  <c:v>0</c:v>
                </c:pt>
                <c:pt idx="7">
                  <c:v>25</c:v>
                </c:pt>
                <c:pt idx="8">
                  <c:v>25</c:v>
                </c:pt>
                <c:pt idx="9">
                  <c:v>25</c:v>
                </c:pt>
                <c:pt idx="10">
                  <c:v>25</c:v>
                </c:pt>
                <c:pt idx="11">
                  <c:v>25</c:v>
                </c:pt>
                <c:pt idx="12">
                  <c:v>25</c:v>
                </c:pt>
                <c:pt idx="13">
                  <c:v>25</c:v>
                </c:pt>
                <c:pt idx="14">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cycle number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3"/>
      </c:catAx>
      <c:valAx>
        <c:axId val="2094734552"/>
        <c:scaling>
          <c:orientation val="minMax"/>
          <c:max val="30"/>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link VK</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The gap timer during one green.</a:t>
            </a:r>
          </a:p>
        </c:rich>
      </c:tx>
      <c:layout/>
      <c:overlay val="0"/>
    </c:title>
    <c:autoTitleDeleted val="0"/>
    <c:plotArea>
      <c:layout/>
      <c:lineChart>
        <c:varyColors val="0"/>
        <c:ser>
          <c:idx val="0"/>
          <c:order val="0"/>
          <c:tx>
            <c:strRef>
              <c:f>Sheet1!$B$1</c:f>
              <c:strCache>
                <c:ptCount val="1"/>
                <c:pt idx="0">
                  <c:v>gap timer (s)</c:v>
                </c:pt>
              </c:strCache>
            </c:strRef>
          </c:tx>
          <c:spPr>
            <a:solidFill>
              <a:srgbClr val="17324F"/>
            </a:solidFill>
            <a:ln w="28575" cap="flat">
              <a:solidFill>
                <a:srgbClr val="1732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324F"/>
              </a:solidFill>
              <a:ln w="9525" cap="flat">
                <a:solidFill>
                  <a:srgbClr val="17324F"/>
                </a:solidFill>
                <a:prstDash val="solid"/>
                <a:round/>
              </a:ln>
              <a:effectLst/>
            </c:spPr>
          </c:marker>
          <c:cat>
            <c:multiLvlStrRef>
              <c:f>Sheet1!$A$2:$A$19</c:f>
              <c:multiLvlStrCache>
                <c:ptCount val="18"/>
                <c:lvl>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lvl>
              </c:multiLvlStrCache>
            </c:multiLvlStrRef>
          </c:cat>
          <c:val>
            <c:numRef>
              <c:f>Sheet1!$B$2:$B$19</c:f>
              <c:numCache>
                <c:formatCode>General</c:formatCode>
                <c:ptCount val="18"/>
                <c:pt idx="0">
                  <c:v>0</c:v>
                </c:pt>
                <c:pt idx="1">
                  <c:v>0.5</c:v>
                </c:pt>
                <c:pt idx="2">
                  <c:v>0</c:v>
                </c:pt>
                <c:pt idx="3">
                  <c:v>0.5</c:v>
                </c:pt>
                <c:pt idx="4">
                  <c:v>1</c:v>
                </c:pt>
                <c:pt idx="5">
                  <c:v>0</c:v>
                </c:pt>
                <c:pt idx="6">
                  <c:v>0.5</c:v>
                </c:pt>
                <c:pt idx="7">
                  <c:v>1</c:v>
                </c:pt>
                <c:pt idx="8">
                  <c:v>0</c:v>
                </c:pt>
                <c:pt idx="9">
                  <c:v>0.5</c:v>
                </c:pt>
                <c:pt idx="10">
                  <c:v>1</c:v>
                </c:pt>
                <c:pt idx="11">
                  <c:v>0</c:v>
                </c:pt>
                <c:pt idx="12">
                  <c:v>0.5</c:v>
                </c:pt>
                <c:pt idx="13">
                  <c:v>1</c:v>
                </c:pt>
                <c:pt idx="14">
                  <c:v>1.5</c:v>
                </c:pt>
                <c:pt idx="15">
                  <c:v>2</c:v>
                </c:pt>
                <c:pt idx="16">
                  <c:v>2.5</c:v>
                </c:pt>
                <c:pt idx="17">
                  <c:v>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444444"/>
                    </a:solidFill>
                    <a:latin typeface="Arial"/>
                  </a:defRPr>
                </a:pPr>
                <a:r>
                  <a:rPr sz="900" b="0" i="0" u="none" strike="noStrike">
                    <a:solidFill>
                      <a:srgbClr val="444444"/>
                    </a:solidFill>
                    <a:latin typeface="Arial"/>
                  </a:rPr>
                  <a:t>time since green started (s); minimum green 8 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44444"/>
                </a:solidFill>
                <a:latin typeface="+mn-lt"/>
              </a:defRPr>
            </a:pPr>
            <a:endParaRPr lang="en-US"/>
          </a:p>
        </c:txPr>
        <c:crossAx val="2094734552"/>
        <c:crosses val="autoZero"/>
        <c:auto val="1"/>
        <c:lblAlgn val="ctr"/>
        <c:noMultiLvlLbl val="1"/>
        <c:tickLblSkip val="3"/>
      </c:catAx>
      <c:valAx>
        <c:axId val="2094734552"/>
        <c:scaling>
          <c:orientation val="minMax"/>
          <c:max val="4"/>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gap timer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Bus delay at each priority level (worked example).</a:t>
            </a:r>
          </a:p>
        </c:rich>
      </c:tx>
      <c:layout/>
      <c:overlay val="0"/>
    </c:title>
    <c:autoTitleDeleted val="0"/>
    <c:plotArea>
      <c:layout/>
      <c:barChart>
        <c:barDir val="col"/>
        <c:grouping val="clustered"/>
        <c:varyColors val="0"/>
        <c:ser>
          <c:idx val="0"/>
          <c:order val="0"/>
          <c:tx>
            <c:strRef>
              <c:f>Sheet1!$B$1</c:f>
              <c:strCache>
                <c:ptCount val="1"/>
                <c:pt idx="0">
                  <c:v>bus delay (s)</c:v>
                </c:pt>
              </c:strCache>
            </c:strRef>
          </c:tx>
          <c:spPr>
            <a:solidFill>
              <a:srgbClr val="3F3266"/>
            </a:solidFill>
            <a:effectLst/>
          </c:spPr>
          <c:invertIfNegative val="0"/>
          <c:dLbls>
            <c:numFmt formatCode="General"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Sheet1!$B$2:$B$4</c:f>
              <c:numCache>
                <c:formatCode>General</c:formatCode>
                <c:ptCount val="3"/>
                <c:pt idx="0">
                  <c:v>38</c:v>
                </c:pt>
                <c:pt idx="1">
                  <c:v>18</c:v>
                </c:pt>
                <c:pt idx="2">
                  <c:v>3</c:v>
                </c:pt>
              </c:numCache>
            </c:numRef>
          </c:val>
        </c:ser>
        <c:dLbls>
          <c:numFmt formatCode="General"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bus delay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1A1A"/>
                </a:solidFill>
                <a:latin typeface="+mn-lt"/>
              </a:defRPr>
            </a:pPr>
            <a:r>
              <a:rPr sz="1100" b="0" i="0" u="none" strike="noStrike">
                <a:solidFill>
                  <a:srgbClr val="1A1A1A"/>
                </a:solidFill>
                <a:latin typeface="+mn-lt"/>
              </a:rPr>
              <a:t>Lab A2 ablation: mean delay with one mechanism switched off (SUMO, seed 1).</a:t>
            </a:r>
          </a:p>
        </c:rich>
      </c:tx>
      <c:layout/>
      <c:overlay val="0"/>
    </c:title>
    <c:autoTitleDeleted val="0"/>
    <c:plotArea>
      <c:layout/>
      <c:barChart>
        <c:barDir val="col"/>
        <c:grouping val="clustered"/>
        <c:varyColors val="0"/>
        <c:ser>
          <c:idx val="0"/>
          <c:order val="0"/>
          <c:tx>
            <c:strRef>
              <c:f>Sheet1!$B$1</c:f>
              <c:strCache>
                <c:ptCount val="1"/>
                <c:pt idx="0">
                  <c:v>mean delay (s per vehicle)</c:v>
                </c:pt>
              </c:strCache>
            </c:strRef>
          </c:tx>
          <c:spPr>
            <a:solidFill>
              <a:srgbClr val="4A4A5A"/>
            </a:solidFill>
            <a:effectLst/>
          </c:spPr>
          <c:invertIfNegative val="0"/>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cat>
            <c:multiLvlStrRef>
              <c:f>Sheet1!$A$2:$A$8</c:f>
              <c:multiLvlStrCache>
                <c:ptCount val="7"/>
                <c:lvl>
                  <c:pt idx="0">
                    <c:v>Full SCATS</c:v>
                  </c:pt>
                  <c:pt idx="1">
                    <c:v>No tactical</c:v>
                  </c:pt>
                  <c:pt idx="2">
                    <c:v>No marriage</c:v>
                  </c:pt>
                  <c:pt idx="3">
                    <c:v>No offset</c:v>
                  </c:pt>
                  <c:pt idx="4">
                    <c:v>No bus priority</c:v>
                  </c:pt>
                  <c:pt idx="5">
                    <c:v>No split</c:v>
                  </c:pt>
                  <c:pt idx="6">
                    <c:v>No cycle</c:v>
                  </c:pt>
                </c:lvl>
              </c:multiLvlStrCache>
            </c:multiLvlStrRef>
          </c:cat>
          <c:val>
            <c:numRef>
              <c:f>Sheet1!$B$2:$B$8</c:f>
              <c:numCache>
                <c:formatCode>General</c:formatCode>
                <c:ptCount val="7"/>
                <c:pt idx="0">
                  <c:v>36.94</c:v>
                </c:pt>
                <c:pt idx="1">
                  <c:v>62.04</c:v>
                </c:pt>
                <c:pt idx="2">
                  <c:v>50.33</c:v>
                </c:pt>
                <c:pt idx="3">
                  <c:v>45.22</c:v>
                </c:pt>
                <c:pt idx="4">
                  <c:v>42.49</c:v>
                </c:pt>
                <c:pt idx="5">
                  <c:v>37.5</c:v>
                </c:pt>
                <c:pt idx="6">
                  <c:v>34.42</c:v>
                </c:pt>
              </c:numCache>
            </c:numRef>
          </c:val>
        </c:ser>
        <c:dLbls>
          <c:numFmt formatCode="0.0" sourceLinked="0"/>
          <c:txPr>
            <a:bodyPr/>
            <a:lstStyle/>
            <a:p>
              <a:pPr>
                <a:defRPr b="0" i="0" strike="noStrike" sz="1000" u="none">
                  <a:solidFill>
                    <a:srgbClr val="1A1A1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1E5EA"/>
              </a:solidFill>
              <a:prstDash val="solid"/>
              <a:round/>
            </a:ln>
          </c:spPr>
        </c:majorGridlines>
        <c:title>
          <c:tx>
            <c:rich>
              <a:bodyPr/>
              <a:lstStyle/>
              <a:p>
                <a:pPr>
                  <a:defRPr sz="900" b="0" i="0" u="none" strike="noStrike">
                    <a:solidFill>
                      <a:srgbClr val="444444"/>
                    </a:solidFill>
                    <a:latin typeface="Arial"/>
                  </a:defRPr>
                </a:pPr>
                <a:r>
                  <a:rPr sz="900" b="0" i="0" u="none" strike="noStrike">
                    <a:solidFill>
                      <a:srgbClr val="444444"/>
                    </a:solidFill>
                    <a:latin typeface="Arial"/>
                  </a:rPr>
                  <a:t>mean delay (s per vehicle)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4444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guide assumes you have read the Foundation level, or at least know what a cycle, a phase, a split and an offset are, and that SCATS measures each green with the degree of saturation (DS). Everything else is built from scratch with small numbers. There are eight ideas: the first five are strategic (decided once per cycle for groups of junctions), the last three are about tactical control, priority and the system as a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for today:
- Find the critical intersection of a subsystem from its DS values and explain why it sets the cycle.
- Compute the next cycle length from C, DS and the target, using the step limits and LMIN/LMAX.
- Predict each phase's DS under a different split plan and pick the plan that balances them.
- Work out offsets for an eastbound or westbound green wave and explain offset voting.
- Trace marriage and divorce of two subsystems through a run of link volumes.
- Decide when a green gaps out, when a phase is skipped, and why the main road is held.
- Compare high, medium and low transit priority for a bus that just missed its green.
- Name the operating modes and read the SUMO ablation: which mechanism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memorise these now; each is explained again when it first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box is one idea; arrows say how one feeds the next. CI's DS sets; splits share cycle; offsets are mod C; shared clock; planned greens; extend or skip; biggest ablation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city may have thousands of signals. SCATS does not try to give them one cycle; it splits them into small teams. Each team has a captain. Who should the captain be?
SCATS groups signals into subsystems, usually one to ten junctions that must share a cycle length to be coordinated. Each subsystem has one critical intersection (CI), normally the busiest. The CI's DS decides the subsystem's cycle length.
The other junctions follow that cycle, but each has its own split plan (how it shares the cycle among its phases) and an offset (when its cycle starts compared with the CI).
Once per cycle the regional computer runs the same strategic loop: collect DS and VK from every strategic loop detector; move the cycle length; vote on split plans; vote on offset plans; decide whether neighbouring subsystems should marry or divorce.
Presenter tip: Use the rowing analogy. Work the DS example: it reminds learners of the Foundation formula before the cycle controller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strategic loop, once per cycle. What to notice: everything starts from DS and VK measured at stop-line loops; the cycle is decided first, because splits and offsets are fractions of it. Read left to right, then down.
Try it with the audience: A junction had 40 s of green, 18 s of unoccupied loop time and 20 vehicles (h = 1.6 s). What is its DS?
Answer: n × h = 32 s. Wasted = 18 − 32 = −14 s. Used = 40 + 14 = 54 s. DS = 54 ÷ 40 = 1.35. DS can exceed 1 when vehicles pass with gaps shorter than h: this junction is very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The roped ferries are a subsystem (1 to 10 signals); the captain is the critical intersection; the drumbeat is the shared cycle.
Recap: Subsystems and CI: 1-10 signals share a cycle; the busiest (critical) intersection's DS sets it; others keep their own splits and offsets.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CI is overloaded, why not double the cycle straight away? SCATS deliberately refuses. It walks towards the right cycle a few seconds at a time.
If the CI ran at DS with cycle C, the cycle that would have given the target DS (0.9 here) is roughly C × DS ÷ 0.9. That is the desired cycle.
SCATS never jumps there. It moves at most 6 s up per cycle (9 s when DS is 1 or more, because the junction is overloaded) and at most 6 s down. The result is kept between LMIN (40 s) and LMAX (140 s).
Above the stretch cycle (110 s here) extra time is not shared by the split plan; it all goes to one nominated phase, usually the main road, because long cycles are mainly for the heaviest movement.
Presenter tip: Do the 80 to 89 to 95 example on the board. Then show the figure: the staircase shape is the signature of bounded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simulated rush hour at the CI. What to notice: the cycle (top) climbs in steps of 6 or 9 s while DS is high, peaks at 112 s, then steps down by 6 s per cycle as DS falls. DS rises above 1 only briefly. Computed with this lab's next_cycle_length() on an invented demand pattern.
Try it with the audience: The cycle is 120 s and the CI's DS is 0.80. What is the next cycle? How much of it is 'stretch' time?
Answer: Desired = 120 × 0.80 ÷ 0.9 = 106.7 s. Gap −13.3 s, limit −6 s, so Cnext = 114 s. Stretch above 110 s = 4 s, which all goes to the main-road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Tempo = cycle length; the rope = step limits 6 s (9 s if DS ≥ 1); the dial = LMIN 40 s and LMAX 140 s; 0.9 = target DS.
Recap: Cycle length: desired = C × DS ÷ 0.9; move at most +6 (+9 if DS ≥ 1) or −6 s per cycle, within 40-140 s; above 110 s extra goes to the main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junction has three phases. One is overloaded, one is half-empty. SCATS fixes this not by inventing new timings but by choosing among a few stored plans, and only after a vote.
Each junction stores a few split plans, each a share of the cycle for every phase. To compare them, SCATS asks: if this phase had had green gplan instead of gnow, what would its DS have been? The traffic used DS × gnow seconds of green, so the predicted DS is that divided by gplan.
The best plan is the one whose highest predicted DS is lowest. That choice equalises the phases: no phase is left badly overloaded while another has spare green.
A plan is only put into service after it wins consistently, here in 2 of the last 3 cycles. This voting smooths out one-off surges.
Presenter tip: Stress 'minimise the worst phase'. Ask the audience which plan wins before showing the bar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 predicted DS under each plan. What to notice: the winning plan is the shortest bar, because it leaves the worst phase least overloaded. Values from the worked example.
Try it with the audience: Two-phase junction, greens now A 30 s and B 30 s, DS A 0.98 and B 0.60. Plan P gives A 36 s, B 24 s. What are the predicted DS values? Is P better?
Answer: A: 0.98 × 30 ÷ 36 = 0.82. B: 0.60 × 30 ÷ 24 = 0.75. Highest 0.82 &lt; 0.98, so P is better (it would still need to win the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The trays are phases; balancing = minimising the highest DS; the three seagulls and two squawks = 2-of-3 voting.
Recap: Split plans: predict DS × gnow/gplan per phase; choose the plan with the lowest worst DS; adopt it after 2 of 3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along a well-timed road and every light turns green just as you arrive. That 'green wave' is just arithmetic: distance, speed and one subtraction.
An offset is when a junction's green starts compared with the reference junction (the CI). For an eastbound green wave, each junction starts its green later by the travel time from the reference: distance ÷ progression speed. The result is taken mod the cycle (wrapped round, like a clock).
SCATS keeps a few offset plans: OP1 eastbound wave, OP2 westbound wave, OP3 all start together, OP4 alternate (every second junction shifted by half a cycle). It picks one from the directional flows: the clearly heavier direction (here, more than 1.3 times the other) gets the wave; balanced traffic gets OP3 or OP4.
Changing offsets disturbs traffic while the junctions shift, so offset plans need stronger agreement than splits: 4 of the last 5 cycles.
Presenter tip: Sketch a time-space diagram with four junctions. Show why a perfect eastbound wave hurts westbound traffic, and why OP4 can serve both when travel time is about half a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decisions on the SUMO corridor (Lab A1). What to notice: the cycle rises with each peak, the offset plan switches from eastbound (OP1) to westbound (OP2) progression and then to alternate (OP4) as traffic balances, and the two subsystems marry as the first peak builds.
Try it with the audience: Same corridor, but the cycle is 60 s. What are the OP1 offsets for junctions 1 to 4?
Answer: 0, 21.6, 43.2, 64.7 s; the last wraps: 64.7 − 60 = 4.7 s. So 0, 21.6, 43.2, 4.7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Flags popping in sequence = offsets making a green wave; the car's speed = progression speed; four of five cards = 4-of-5 offset voting.
Recap: Offsets: offset = distance ÷ speed (mod C); OP1/OP2 waves, OP3 together, OP4 alternate; heavier direction (&gt;1.3×) wins; adopt after 4 of 5 votes.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neighbouring subsystems each run their own cycle. When lots of traffic flows between them, they would do better as one. When it fades, they would do better apart. How do you stop them changing their minds every minute?
Two adjacent subsystems can be married: they run on a common cycle (the larger of the two they each need) and share a master clock, so the offset between them means something. When the traffic between them drops, coordination no longer pays for the extra cycle time, and they divorce.
The decision uses the link flow (VK) between them. In this lab they marry when link VK is at least 18 and the two cycles are within 25 s of each other; once married they stay married until VK falls below 10. Different thresholds for on and off are called hysteresis.
A change also needs 3 consecutive votes. One busy cycle cannot marry them, and one quiet cycle cannot divorce them.
Presenter tip: Walk the VK sequence on the board, counting votes aloud. Ask what would happen with a single threshold of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VK and the marriage state. What to notice: the state (married = 25 on this scale) switches on only after three cycles at or above 18, and off only after three below 10. Readings between the dashed lines never change anything. Computed with this lab's MarriageLogic.
Try it with the audience: Divorced, cycles 70 s and 100 s, link VK 25, 26, 27. Do they marry?
Answer: No. VK is high, but the cycles differ by 30 s, more than the 25 s allowed, so the votes do not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Marry at VK 18, divorce below 10 (hysteresis); three bells = 3 consecutive votes; the bigger clock = the larger cycle.
Recap: Marriage: neighbours share the larger cycle when link VK ≥ 18 for 3 cycles (cycles within 25 s); divorce when VK &lt; 10 for 3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regional computer plans greens once per cycle. But what if the side road empties after 8 seconds of a planned 25? Something has to notice, every second.
Strategic control gives each phase a planned green. The local controller then checks, every second, whether that green is still useful. After the minimum green, a gap timer restarts each time a vehicle crosses the loop. If it reaches the gap setting (3 s here), the phase gaps out and its unused time passes to the next phase.
Demand-dependent phases, such as a protected right-turn arrow, are skipped when nobody is waiting.
The coordinated phase (the main road) is normally held rather than gapped out, because ending it early would break the green wave. Spare time from the other phases returns to it.
Presenter tip: Act out the gap timer with a clap for each car. Then link to the ablation: tactical control was the single most valuable mechanism on this corridor.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timer during one green. What to notice: the timer resets to 0 at every vehicle; the green may end only after the minimum green, the first time the timer reaches the 3 s line (8.5 s). Values from the worked example.
Try it with the audience: Minimum green 6 s, gap 3 s, vehicles at 0.5, 2.0 and 6.5 s, then none. When does the green end?
Answer: At 5.0 s the gap is 3.0 s, but that is before the 6 s minimum. At 6.0 s the gap is 4 s, so the green would end at 6.0 s; the car at 6.5 s just misses. (If it had come at 5.5 s, the timer would have reset and the green would end at 8.5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Three silent seconds = gap setting 3 s; eight-second bell = minimum green; skipped floors = phase skipping; anchor = the held coordinated phase.
Recap: Tactical: after minimum green a 3 s gap ends a green early; empty demand phases are skipped; the main road is held; spare time passes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 with 60 people arrives a second after its green ends. Should 60 people wait for the next cycle so that 5 cars on the side road get their turn?
SCATS can receive priority requests from buses and trams, for example from a transponder or a detector in a bus lane. Three levels are commonly described.
High priority is a 'hurry call': the transit phase is served as soon as it is safe, skipping other phases if needed. It is typical for trams and emergency vehicles. Medium priority is a flexible window: the current green is extended, or other phases are shortened, so the transit phase comes sooner. It is typical for buses. Low priority means the vehicle waits in normal sequence.
In Lab A1 buses ran every 4 minutes each way. Mean bus delay was 110.8 s with fixed time, 51.8 s actuated and 29.7 s with SCATS and bus priority.
Presenter tip: Ask the audience which level they would give a city bus. Then show the cost: the side road loses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 delay at each priority level (worked example). What to notice: each step up in priority cuts the bus delay sharply, but the time comes from phase B. Illustrative timings from the calculation, not SUMO.
Try it with the audience: Same junction, but the bus arrives at 38 s, before A's green ends. Under medium priority, what happens and what is the bus delay?
Answer: Medium can extend the current A green by a few seconds so the bus passes. Bus delay ≈ 0 s; B starts a little later and is shortened by the same few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Hurry horn = high priority (serve at once); waved ticket = medium (extend or start early); waiting van = low (normal sequence).
Recap: Bus priority: high = hurry call, medium = extend or start early, low = wait; Lab A1 bus delay 110.8 / 51.8 / 29.7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to a city's signals when the cable to the control centre is cut? And if you remove one SCATS mechanism at a time, which one does the corridor miss most?
Masterlink is full adaptive operation: strategic plans from the regional computer, tactical control locally. Flexilink is the fallback: time-of-day plans with synchronised clocks, so offsets still hold, with local actuation inside them. Isolated means local vehicle actuation only, with no coordination. Last comes flashing or off, for faults and power loss.
SCATS also raises alarms for implausible loops (no counts for many cycles, or the loop stuck 'on'), and engineers configure substitutes. The Mastery level tests this.
Lab A1 ran everything on four 3-phase junctions 300 m apart, in two subsystems that may marry, for 90 minutes with tidal peaks and buses every 4 minutes. Lab A2, the ablation, switched one mechanism off at a time.
Presenter tip: Show the ablation chart and ask the audience to rank mechanisms before revealing it. Be honest about the 'no cycle'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A2 ablation: mean delay with one mechanism switched off (SUMO, seed 1). What to notice: the tallest bar shows the mechanism the corridor misses most. 'No cycle' is below 'Full': a fixed 80 s cycle happened to suit this demand.
Try it with the audience: Lab A1 stops per vehicle were 1.82 (fixed), 1.57 (actuated) and 1.30 (SCATS). By what percentage did SCATS cut stops compared with fixed time?
Answer: (1.82 − 1.30) ÷ 1.82 = 0.52 ÷ 1.82 = 29% fewer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scene encodes: Conductor = Masterlink; sheet music + metronome = Flexilink; the scoreboard = ablation, no tactical 62.0 s versus 36.9 s full.
Recap: Modes and ablation: Masterlink → Flexilink → Isolated → flashing; Lab A1 delay 77.2 / 40.9 / 36.9 s; ablation: tactical matters most (62.0 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Desired 133.3 s; DS ≥ 1 allows +9, so 109 s. 106 s uses the normal +6 limit.
Answer: C. 800 ÷ 16 = 50 s, below 90 so no wrap. 25 s is one link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Holding it keeps progression; spare time returns to it.
Answer: B. Switching them off raised delay to 62.0 and 50.3 s, the two largest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1, Ferry wharf: At the wharf, a team of up to ten little ferries is tied together with one rope. The biggest, puffing ferry at the front wears a captain's hat and bangs a drum; all the others row to its beat. (The roped ferries are a subsystem (1 to 10 signals); the captain is the critical intersection; the drumbeat is the shared cycle.)
Stop 2, Opera house: Inside the opera house a conductor speeds up the orchestra, but a rope on his baton lets him move it only six beats faster at a time, nine if the audience is stampeding. The tempo dial runs from 40 to 140, and a big '0.9' glows above the stage. (Tempo = cycle length; the rope = step limits 6 s (9 s if DS ≥ 1); the dial = LMIN 40 s and LMAX 140 s; 0.9 = target DS.)
Stop 3, Fish market: At the fish market a stallholder balances three trays of fish on a giant see-saw scale, swapping fish until no tray sags. Before she nails the trays down, three seagulls vote; she needs two squawks for the same tray layout. (The trays are phases; balancing = minimising the highest DS; the three seagulls and two squawks = 2-of-3 voting.)
Stop 4, Harbour bridge: Along the harbour bridge, giant flags pop up one after another, left to right, exactly as a speeding red car passes each one. A stern referee holds up five cards and needs four to agree before the flags may change direction. (Flags popping in sequence = offsets making a green wave; the car's speed = progression speed; four of five cards = 4-of-5 offset voting.)
Stop 5, Wedding chapel: On the rocks above the harbour, two ferries get married in a tiny chapel. The priest needs 18 roses to start the wedding but only takes the rings back if fewer than 10 remain, and three bells must ring in a row each time. The couple share the bigger of their two clocks. (Marry at VK 18, divorce below 10 (hysteresis); three bells = 3 consecutive votes; the bigger clock = the larger cycle.)
Stop 6, Lighthouse: In the lighthouse, a lift door stays open while tourists stream in, then slams after three silent seconds, but never before an eight-second bell. The lift skips floors where nobody pressed a button. On the main-road floor a guard props the door open with a giant anchor. (Three silent seconds = gap setting 3 s; eight-second bell = minimum green; skipped floors = phase skipping; anchor = the held coordinated phase.)
Stop 7, Tram stop: At the tram stop three vehicles queue for a magic gate. A fire-red tram blasts a hurry horn and the gate flies open at once. A yellow bus waves a ticket and the gate swings early. A grey van just waits its turn, tapping the wheel. (Hurry horn = high priority (serve at once); waved ticket = medium (extend or start early); waiting van = low (normal sequence).)
Stop 8, Control tower: In the control tower a conductor leads an orchestra of traffic lights. When she trips over the cable, the lights pick up sheet music and a ticking metronome. Behind her a scoreboard shows seven pillars; the tallest, 62, is labelled 'tactical'. (Conductor = Masterlink; sheet music + metronome = Flexilink; the scoreboard = ablation, no tactical 62.0 s versus 36.9 s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learners to the study guide for the full worked examples, quiz and revision plan, and to the website for the simulators.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32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732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lstStyle>
            <a:lvl1pPr indent="0" marL="0">
              <a:buNone/>
              <a:defRPr lang="en-US" sz="2400" b="1" dirty="0">
                <a:solidFill>
                  <a:schemeClr val="tx2"/>
                </a:solidFill>
              </a:defRPr>
            </a:lvl1pPr>
          </a:lstStyle>
          <a:p>
            <a:pPr indent="0" marL="0">
              <a:buNone/>
            </a:pPr>
            <a:endParaRPr lang="en-US" sz="2400" dirty="0"/>
          </a:p>
        </p:txBody>
      </p:sp>
      <p:sp>
        <p:nvSpPr>
          <p:cNvPr id="3" name="Text 0"/>
          <p:cNvSpPr/>
          <p:nvPr/>
        </p:nvSpPr>
        <p:spPr>
          <a:xfrm>
            <a:off x="411480" y="4828032"/>
            <a:ext cx="5486400" cy="228600"/>
          </a:xfrm>
          <a:prstGeom prst="rect">
            <a:avLst/>
          </a:prstGeom>
          <a:noFill/>
          <a:ln/>
        </p:spPr>
        <p:txBody>
          <a:bodyPr wrap="square" rtlCol="0" anchor="ctr"/>
          <a:lstStyle/>
          <a:p>
            <a:pPr indent="0" marL="0">
              <a:buNone/>
            </a:pPr>
            <a:r>
              <a:rPr lang="en-US" sz="900" dirty="0">
                <a:solidFill>
                  <a:schemeClr val="tx1">
                    <a:alpha val="60000"/>
                  </a:schemeClr>
                </a:solidFill>
              </a:rPr>
              <a:t>SCATS Learning Lab · Advanced</a:t>
            </a:r>
            <a:endParaRPr lang="en-US" sz="9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nchor="b"/>
          <a:lstStyle/>
          <a:p>
            <a:pPr indent="0" marL="0">
              <a:buNone/>
            </a:pPr>
            <a:r>
              <a:rPr lang="en-US" sz="3800" b="1" dirty="0">
                <a:solidFill>
                  <a:schemeClr val="bg1"/>
                </a:solidFill>
                <a:latin typeface="Cambria" pitchFamily="34" charset="0"/>
                <a:ea typeface="Cambria" pitchFamily="34" charset="-122"/>
                <a:cs typeface="Cambria" pitchFamily="34" charset="-120"/>
              </a:rPr>
              <a:t>Eight mechanisms, one corridor, and the votes that keep them calm</a:t>
            </a:r>
            <a:endParaRPr lang="en-US" sz="3800" dirty="0"/>
          </a:p>
        </p:txBody>
      </p:sp>
      <p:sp>
        <p:nvSpPr>
          <p:cNvPr id="3" name="Text 0"/>
          <p:cNvSpPr/>
          <p:nvPr>
            <p:ph idx="101" type="body" hasCustomPrompt="1"/>
          </p:nvPr>
        </p:nvSpPr>
        <p:spPr>
          <a:xfrm>
            <a:off x="548640" y="2788920"/>
            <a:ext cx="7680960" cy="1097280"/>
          </a:xfrm>
          <a:prstGeom prst="rect">
            <a:avLst/>
          </a:prstGeom>
          <a:noFill/>
          <a:ln/>
        </p:spPr>
        <p:txBody>
          <a:bodyPr wrap="square" rtlCol="0" anchor="t"/>
          <a:lstStyle/>
          <a:p>
            <a:pPr indent="0" marL="0">
              <a:buNone/>
            </a:pPr>
            <a:r>
              <a:rPr lang="en-US" sz="1600" dirty="0">
                <a:solidFill>
                  <a:schemeClr val="bg1"/>
                </a:solidFill>
              </a:rPr>
              <a:t>How SCATS turns stop-line counts into cycle lengths, split plans, offsets and linked subsystems, then keeps every green honest second by second.</a:t>
            </a:r>
            <a:endParaRPr lang="en-US" sz="1600" dirty="0"/>
          </a:p>
        </p:txBody>
      </p:sp>
      <p:sp>
        <p:nvSpPr>
          <p:cNvPr id="4" name="level pill"/>
          <p:cNvSpPr/>
          <p:nvPr/>
        </p:nvSpPr>
        <p:spPr>
          <a:xfrm>
            <a:off x="548640" y="502920"/>
            <a:ext cx="2377440" cy="384048"/>
          </a:xfrm>
          <a:prstGeom prst="roundRect">
            <a:avLst>
              <a:gd name="adj" fmla="val 19048"/>
            </a:avLst>
          </a:prstGeom>
          <a:solidFill>
            <a:srgbClr val="F2B526"/>
          </a:solidFill>
          <a:ln w="12700">
            <a:solidFill>
              <a:srgbClr val="F2B526"/>
            </a:solidFill>
            <a:prstDash val="solid"/>
          </a:ln>
        </p:spPr>
      </p:sp>
      <p:sp>
        <p:nvSpPr>
          <p:cNvPr id="5" name="Text 3"/>
          <p:cNvSpPr txBox="1"/>
          <p:nvPr/>
        </p:nvSpPr>
        <p:spPr>
          <a:xfrm>
            <a:off x="548640" y="502920"/>
            <a:ext cx="2377440" cy="384048"/>
          </a:xfrm>
          <a:prstGeom prst="rect">
            <a:avLst/>
          </a:prstGeom>
          <a:noFill/>
          <a:ln/>
        </p:spPr>
        <p:txBody>
          <a:bodyPr wrap="square" lIns="0" tIns="0" rIns="0" bIns="0" rtlCol="0" anchor="ctr"/>
          <a:lstStyle/>
          <a:p>
            <a:pPr algn="ctr" indent="0" marL="0">
              <a:buNone/>
            </a:pPr>
            <a:r>
              <a:rPr lang="en-US" sz="1200" b="1" dirty="0">
                <a:solidFill>
                  <a:srgbClr val="1A1A1A"/>
                </a:solidFill>
              </a:rPr>
              <a:t>SCATS · Level 2 · Advanced</a:t>
            </a:r>
            <a:endParaRPr lang="en-US" sz="1200" dirty="0"/>
          </a:p>
        </p:txBody>
      </p:sp>
      <p:sp>
        <p:nvSpPr>
          <p:cNvPr id="6" name="Text 4"/>
          <p:cNvSpPr txBox="1"/>
          <p:nvPr/>
        </p:nvSpPr>
        <p:spPr>
          <a:xfrm>
            <a:off x="548640" y="4434840"/>
            <a:ext cx="5486400" cy="320040"/>
          </a:xfrm>
          <a:prstGeom prst="rect">
            <a:avLst/>
          </a:prstGeom>
          <a:noFill/>
          <a:ln/>
        </p:spPr>
        <p:txBody>
          <a:bodyPr wrap="square" rtlCol="0" anchor="ctr"/>
          <a:lstStyle/>
          <a:p>
            <a:pPr indent="0" marL="0">
              <a:buNone/>
            </a:pPr>
            <a:r>
              <a:rPr lang="en-US" sz="1100" dirty="0">
                <a:solidFill>
                  <a:srgbClr val="FFFFFF">
                    <a:alpha val="75000"/>
                  </a:srgbClr>
                </a:solidFill>
              </a:rPr>
              <a:t>smrahmanbd.github.io/scats-learning-lab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8 ideas, each building on the last</a:t>
            </a:r>
            <a:endParaRPr lang="en-US" sz="2400" dirty="0"/>
          </a:p>
        </p:txBody>
      </p:sp>
      <p:sp>
        <p:nvSpPr>
          <p:cNvPr id="3" name="concept card 1"/>
          <p:cNvSpPr/>
          <p:nvPr/>
        </p:nvSpPr>
        <p:spPr>
          <a:xfrm>
            <a:off x="411480" y="1005840"/>
            <a:ext cx="2651760" cy="1078992"/>
          </a:xfrm>
          <a:prstGeom prst="roundRect">
            <a:avLst>
              <a:gd name="adj" fmla="val 6780"/>
            </a:avLst>
          </a:prstGeom>
          <a:solidFill>
            <a:srgbClr val="EEF2F6"/>
          </a:solidFill>
          <a:ln w="12700">
            <a:solidFill>
              <a:srgbClr val="EEF2F6"/>
            </a:solidFill>
            <a:prstDash val="solid"/>
          </a:ln>
        </p:spPr>
      </p:sp>
      <p:sp>
        <p:nvSpPr>
          <p:cNvPr id="4" name="dot 1"/>
          <p:cNvSpPr/>
          <p:nvPr/>
        </p:nvSpPr>
        <p:spPr>
          <a:xfrm>
            <a:off x="548640" y="1143000"/>
            <a:ext cx="384048" cy="384048"/>
          </a:xfrm>
          <a:prstGeom prst="ellipse">
            <a:avLst/>
          </a:prstGeom>
          <a:solidFill>
            <a:srgbClr val="0B3954"/>
          </a:solidFill>
          <a:ln w="12700">
            <a:solidFill>
              <a:srgbClr val="0B3954"/>
            </a:solidFill>
            <a:prstDash val="solid"/>
          </a:ln>
        </p:spPr>
      </p:sp>
      <p:sp>
        <p:nvSpPr>
          <p:cNvPr id="5" name="Text 3"/>
          <p:cNvSpPr txBox="1"/>
          <p:nvPr/>
        </p:nvSpPr>
        <p:spPr>
          <a:xfrm>
            <a:off x="54864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00584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Subsystems and the critical intersection</a:t>
            </a:r>
            <a:endParaRPr lang="en-US" sz="1300" dirty="0"/>
          </a:p>
        </p:txBody>
      </p:sp>
      <p:sp>
        <p:nvSpPr>
          <p:cNvPr id="7" name="Text 5"/>
          <p:cNvSpPr txBox="1"/>
          <p:nvPr/>
        </p:nvSpPr>
        <p:spPr>
          <a:xfrm>
            <a:off x="548640" y="1645920"/>
            <a:ext cx="2377440" cy="347472"/>
          </a:xfrm>
          <a:prstGeom prst="rect">
            <a:avLst/>
          </a:prstGeom>
          <a:noFill/>
          <a:ln/>
        </p:spPr>
        <p:txBody>
          <a:bodyPr wrap="square" lIns="0" tIns="0" rIns="0" bIns="0" rtlCol="0" anchor="t"/>
          <a:lstStyle/>
          <a:p>
            <a:pPr indent="0" marL="0">
              <a:buNone/>
            </a:pPr>
            <a:r>
              <a:rPr lang="en-US" sz="1050" dirty="0">
                <a:solidFill>
                  <a:schemeClr val="tx1"/>
                </a:solidFill>
              </a:rPr>
              <a:t>1 to 10  signals in a typical subsystem</a:t>
            </a:r>
            <a:endParaRPr lang="en-US" sz="1050" dirty="0"/>
          </a:p>
        </p:txBody>
      </p:sp>
      <p:sp>
        <p:nvSpPr>
          <p:cNvPr id="8" name="concept card 2"/>
          <p:cNvSpPr/>
          <p:nvPr/>
        </p:nvSpPr>
        <p:spPr>
          <a:xfrm>
            <a:off x="3246120" y="1005840"/>
            <a:ext cx="2651760" cy="1078992"/>
          </a:xfrm>
          <a:prstGeom prst="roundRect">
            <a:avLst>
              <a:gd name="adj" fmla="val 6780"/>
            </a:avLst>
          </a:prstGeom>
          <a:solidFill>
            <a:srgbClr val="EEF2F6"/>
          </a:solidFill>
          <a:ln w="12700">
            <a:solidFill>
              <a:srgbClr val="EEF2F6"/>
            </a:solidFill>
            <a:prstDash val="solid"/>
          </a:ln>
        </p:spPr>
      </p:sp>
      <p:sp>
        <p:nvSpPr>
          <p:cNvPr id="9" name="dot 2"/>
          <p:cNvSpPr/>
          <p:nvPr/>
        </p:nvSpPr>
        <p:spPr>
          <a:xfrm>
            <a:off x="3383280" y="1143000"/>
            <a:ext cx="384048" cy="384048"/>
          </a:xfrm>
          <a:prstGeom prst="ellipse">
            <a:avLst/>
          </a:prstGeom>
          <a:solidFill>
            <a:srgbClr val="04505A"/>
          </a:solidFill>
          <a:ln w="12700">
            <a:solidFill>
              <a:srgbClr val="04505A"/>
            </a:solidFill>
            <a:prstDash val="solid"/>
          </a:ln>
        </p:spPr>
      </p:sp>
      <p:sp>
        <p:nvSpPr>
          <p:cNvPr id="10" name="Text 8"/>
          <p:cNvSpPr txBox="1"/>
          <p:nvPr/>
        </p:nvSpPr>
        <p:spPr>
          <a:xfrm>
            <a:off x="338328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384048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Cycle length: bounded steps towards a target DS</a:t>
            </a:r>
            <a:endParaRPr lang="en-US" sz="1300" dirty="0"/>
          </a:p>
        </p:txBody>
      </p:sp>
      <p:sp>
        <p:nvSpPr>
          <p:cNvPr id="12" name="Text 10"/>
          <p:cNvSpPr txBox="1"/>
          <p:nvPr/>
        </p:nvSpPr>
        <p:spPr>
          <a:xfrm>
            <a:off x="3383280" y="1645920"/>
            <a:ext cx="2377440" cy="347472"/>
          </a:xfrm>
          <a:prstGeom prst="rect">
            <a:avLst/>
          </a:prstGeom>
          <a:noFill/>
          <a:ln/>
        </p:spPr>
        <p:txBody>
          <a:bodyPr wrap="square" lIns="0" tIns="0" rIns="0" bIns="0" rtlCol="0" anchor="t"/>
          <a:lstStyle/>
          <a:p>
            <a:pPr indent="0" marL="0">
              <a:buNone/>
            </a:pPr>
            <a:r>
              <a:rPr lang="en-US" sz="1050" dirty="0">
                <a:solidFill>
                  <a:schemeClr val="tx1"/>
                </a:solidFill>
              </a:rPr>
              <a:t>+6 / +9 s  largest cycle increase per cycle</a:t>
            </a:r>
            <a:endParaRPr lang="en-US" sz="1050" dirty="0"/>
          </a:p>
        </p:txBody>
      </p:sp>
      <p:sp>
        <p:nvSpPr>
          <p:cNvPr id="13" name="concept card 3"/>
          <p:cNvSpPr/>
          <p:nvPr/>
        </p:nvSpPr>
        <p:spPr>
          <a:xfrm>
            <a:off x="6080760" y="1005840"/>
            <a:ext cx="2651760" cy="1078992"/>
          </a:xfrm>
          <a:prstGeom prst="roundRect">
            <a:avLst>
              <a:gd name="adj" fmla="val 6780"/>
            </a:avLst>
          </a:prstGeom>
          <a:solidFill>
            <a:srgbClr val="EEF2F6"/>
          </a:solidFill>
          <a:ln w="12700">
            <a:solidFill>
              <a:srgbClr val="EEF2F6"/>
            </a:solidFill>
            <a:prstDash val="solid"/>
          </a:ln>
        </p:spPr>
      </p:sp>
      <p:sp>
        <p:nvSpPr>
          <p:cNvPr id="14" name="dot 3"/>
          <p:cNvSpPr/>
          <p:nvPr/>
        </p:nvSpPr>
        <p:spPr>
          <a:xfrm>
            <a:off x="6217920" y="1143000"/>
            <a:ext cx="384048" cy="384048"/>
          </a:xfrm>
          <a:prstGeom prst="ellipse">
            <a:avLst/>
          </a:prstGeom>
          <a:solidFill>
            <a:srgbClr val="2F5A1C"/>
          </a:solidFill>
          <a:ln w="12700">
            <a:solidFill>
              <a:srgbClr val="2F5A1C"/>
            </a:solidFill>
            <a:prstDash val="solid"/>
          </a:ln>
        </p:spPr>
      </p:sp>
      <p:sp>
        <p:nvSpPr>
          <p:cNvPr id="15" name="Text 13"/>
          <p:cNvSpPr txBox="1"/>
          <p:nvPr/>
        </p:nvSpPr>
        <p:spPr>
          <a:xfrm>
            <a:off x="621792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6675120" y="1078992"/>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Split plans: equalise DS, then vote</a:t>
            </a:r>
            <a:endParaRPr lang="en-US" sz="1300" dirty="0"/>
          </a:p>
        </p:txBody>
      </p:sp>
      <p:sp>
        <p:nvSpPr>
          <p:cNvPr id="17" name="Text 15"/>
          <p:cNvSpPr txBox="1"/>
          <p:nvPr/>
        </p:nvSpPr>
        <p:spPr>
          <a:xfrm>
            <a:off x="6217920" y="1645920"/>
            <a:ext cx="2377440" cy="347472"/>
          </a:xfrm>
          <a:prstGeom prst="rect">
            <a:avLst/>
          </a:prstGeom>
          <a:noFill/>
          <a:ln/>
        </p:spPr>
        <p:txBody>
          <a:bodyPr wrap="square" lIns="0" tIns="0" rIns="0" bIns="0" rtlCol="0" anchor="t"/>
          <a:lstStyle/>
          <a:p>
            <a:pPr indent="0" marL="0">
              <a:buNone/>
            </a:pPr>
            <a:r>
              <a:rPr lang="en-US" sz="1050" dirty="0">
                <a:solidFill>
                  <a:schemeClr val="tx1"/>
                </a:solidFill>
              </a:rPr>
              <a:t>2 of 3  wins a split plan needs before it runs</a:t>
            </a:r>
            <a:endParaRPr lang="en-US" sz="1050" dirty="0"/>
          </a:p>
        </p:txBody>
      </p:sp>
      <p:sp>
        <p:nvSpPr>
          <p:cNvPr id="18" name="concept card 4"/>
          <p:cNvSpPr/>
          <p:nvPr/>
        </p:nvSpPr>
        <p:spPr>
          <a:xfrm>
            <a:off x="411480" y="2249424"/>
            <a:ext cx="2651760" cy="1078992"/>
          </a:xfrm>
          <a:prstGeom prst="roundRect">
            <a:avLst>
              <a:gd name="adj" fmla="val 6780"/>
            </a:avLst>
          </a:prstGeom>
          <a:solidFill>
            <a:srgbClr val="EEF2F6"/>
          </a:solidFill>
          <a:ln w="12700">
            <a:solidFill>
              <a:srgbClr val="EEF2F6"/>
            </a:solidFill>
            <a:prstDash val="solid"/>
          </a:ln>
        </p:spPr>
      </p:sp>
      <p:sp>
        <p:nvSpPr>
          <p:cNvPr id="19" name="dot 4"/>
          <p:cNvSpPr/>
          <p:nvPr/>
        </p:nvSpPr>
        <p:spPr>
          <a:xfrm>
            <a:off x="548640" y="2386584"/>
            <a:ext cx="384048" cy="384048"/>
          </a:xfrm>
          <a:prstGeom prst="ellipse">
            <a:avLst/>
          </a:prstGeom>
          <a:solidFill>
            <a:srgbClr val="8F3520"/>
          </a:solidFill>
          <a:ln w="12700">
            <a:solidFill>
              <a:srgbClr val="8F3520"/>
            </a:solidFill>
            <a:prstDash val="solid"/>
          </a:ln>
        </p:spPr>
      </p:sp>
      <p:sp>
        <p:nvSpPr>
          <p:cNvPr id="20" name="Text 18"/>
          <p:cNvSpPr txBox="1"/>
          <p:nvPr/>
        </p:nvSpPr>
        <p:spPr>
          <a:xfrm>
            <a:off x="548640" y="2386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1005840" y="2322576"/>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Offsets and green waves</a:t>
            </a:r>
            <a:endParaRPr lang="en-US" sz="1300" dirty="0"/>
          </a:p>
        </p:txBody>
      </p:sp>
      <p:sp>
        <p:nvSpPr>
          <p:cNvPr id="22" name="Text 20"/>
          <p:cNvSpPr txBox="1"/>
          <p:nvPr/>
        </p:nvSpPr>
        <p:spPr>
          <a:xfrm>
            <a:off x="548640" y="2889504"/>
            <a:ext cx="2377440" cy="347472"/>
          </a:xfrm>
          <a:prstGeom prst="rect">
            <a:avLst/>
          </a:prstGeom>
          <a:noFill/>
          <a:ln/>
        </p:spPr>
        <p:txBody>
          <a:bodyPr wrap="square" lIns="0" tIns="0" rIns="0" bIns="0" rtlCol="0" anchor="t"/>
          <a:lstStyle/>
          <a:p>
            <a:pPr indent="0" marL="0">
              <a:buNone/>
            </a:pPr>
            <a:r>
              <a:rPr lang="en-US" sz="1050" dirty="0">
                <a:solidFill>
                  <a:schemeClr val="tx1"/>
                </a:solidFill>
              </a:rPr>
              <a:t>21.6 s  offset step for 300 m at 50 km/h</a:t>
            </a:r>
            <a:endParaRPr lang="en-US" sz="1050" dirty="0"/>
          </a:p>
        </p:txBody>
      </p:sp>
      <p:sp>
        <p:nvSpPr>
          <p:cNvPr id="23" name="concept card 5"/>
          <p:cNvSpPr/>
          <p:nvPr/>
        </p:nvSpPr>
        <p:spPr>
          <a:xfrm>
            <a:off x="3246120" y="2249424"/>
            <a:ext cx="2651760" cy="1078992"/>
          </a:xfrm>
          <a:prstGeom prst="roundRect">
            <a:avLst>
              <a:gd name="adj" fmla="val 6780"/>
            </a:avLst>
          </a:prstGeom>
          <a:solidFill>
            <a:srgbClr val="EEF2F6"/>
          </a:solidFill>
          <a:ln w="12700">
            <a:solidFill>
              <a:srgbClr val="EEF2F6"/>
            </a:solidFill>
            <a:prstDash val="solid"/>
          </a:ln>
        </p:spPr>
      </p:sp>
      <p:sp>
        <p:nvSpPr>
          <p:cNvPr id="24" name="dot 5"/>
          <p:cNvSpPr/>
          <p:nvPr/>
        </p:nvSpPr>
        <p:spPr>
          <a:xfrm>
            <a:off x="3383280" y="2386584"/>
            <a:ext cx="384048" cy="384048"/>
          </a:xfrm>
          <a:prstGeom prst="ellipse">
            <a:avLst/>
          </a:prstGeom>
          <a:solidFill>
            <a:srgbClr val="7A4412"/>
          </a:solidFill>
          <a:ln w="12700">
            <a:solidFill>
              <a:srgbClr val="7A4412"/>
            </a:solidFill>
            <a:prstDash val="solid"/>
          </a:ln>
        </p:spPr>
      </p:sp>
      <p:sp>
        <p:nvSpPr>
          <p:cNvPr id="25" name="Text 23"/>
          <p:cNvSpPr txBox="1"/>
          <p:nvPr/>
        </p:nvSpPr>
        <p:spPr>
          <a:xfrm>
            <a:off x="3383280" y="2386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3840480" y="2322576"/>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Marriage and divorce</a:t>
            </a:r>
            <a:endParaRPr lang="en-US" sz="1300" dirty="0"/>
          </a:p>
        </p:txBody>
      </p:sp>
      <p:sp>
        <p:nvSpPr>
          <p:cNvPr id="27" name="Text 25"/>
          <p:cNvSpPr txBox="1"/>
          <p:nvPr/>
        </p:nvSpPr>
        <p:spPr>
          <a:xfrm>
            <a:off x="3383280" y="2889504"/>
            <a:ext cx="2377440" cy="347472"/>
          </a:xfrm>
          <a:prstGeom prst="rect">
            <a:avLst/>
          </a:prstGeom>
          <a:noFill/>
          <a:ln/>
        </p:spPr>
        <p:txBody>
          <a:bodyPr wrap="square" lIns="0" tIns="0" rIns="0" bIns="0" rtlCol="0" anchor="t"/>
          <a:lstStyle/>
          <a:p>
            <a:pPr indent="0" marL="0">
              <a:buNone/>
            </a:pPr>
            <a:r>
              <a:rPr lang="en-US" sz="1050" dirty="0">
                <a:solidFill>
                  <a:schemeClr val="tx1"/>
                </a:solidFill>
              </a:rPr>
              <a:t>18 / 10  link VK to marry / to divorce</a:t>
            </a:r>
            <a:endParaRPr lang="en-US" sz="1050" dirty="0"/>
          </a:p>
        </p:txBody>
      </p:sp>
      <p:sp>
        <p:nvSpPr>
          <p:cNvPr id="28" name="concept card 6"/>
          <p:cNvSpPr/>
          <p:nvPr/>
        </p:nvSpPr>
        <p:spPr>
          <a:xfrm>
            <a:off x="6080760" y="2249424"/>
            <a:ext cx="2651760" cy="1078992"/>
          </a:xfrm>
          <a:prstGeom prst="roundRect">
            <a:avLst>
              <a:gd name="adj" fmla="val 6780"/>
            </a:avLst>
          </a:prstGeom>
          <a:solidFill>
            <a:srgbClr val="EEF2F6"/>
          </a:solidFill>
          <a:ln w="12700">
            <a:solidFill>
              <a:srgbClr val="EEF2F6"/>
            </a:solidFill>
            <a:prstDash val="solid"/>
          </a:ln>
        </p:spPr>
      </p:sp>
      <p:sp>
        <p:nvSpPr>
          <p:cNvPr id="29" name="dot 6"/>
          <p:cNvSpPr/>
          <p:nvPr/>
        </p:nvSpPr>
        <p:spPr>
          <a:xfrm>
            <a:off x="6217920" y="2386584"/>
            <a:ext cx="384048" cy="384048"/>
          </a:xfrm>
          <a:prstGeom prst="ellipse">
            <a:avLst/>
          </a:prstGeom>
          <a:solidFill>
            <a:srgbClr val="5A2F38"/>
          </a:solidFill>
          <a:ln w="12700">
            <a:solidFill>
              <a:srgbClr val="5A2F38"/>
            </a:solidFill>
            <a:prstDash val="solid"/>
          </a:ln>
        </p:spPr>
      </p:sp>
      <p:sp>
        <p:nvSpPr>
          <p:cNvPr id="30" name="Text 28"/>
          <p:cNvSpPr txBox="1"/>
          <p:nvPr/>
        </p:nvSpPr>
        <p:spPr>
          <a:xfrm>
            <a:off x="6217920" y="2386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6675120" y="2322576"/>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Tactical control: gap-out, skipping, holding</a:t>
            </a:r>
            <a:endParaRPr lang="en-US" sz="1300" dirty="0"/>
          </a:p>
        </p:txBody>
      </p:sp>
      <p:sp>
        <p:nvSpPr>
          <p:cNvPr id="32" name="Text 30"/>
          <p:cNvSpPr txBox="1"/>
          <p:nvPr/>
        </p:nvSpPr>
        <p:spPr>
          <a:xfrm>
            <a:off x="6217920" y="2889504"/>
            <a:ext cx="2377440" cy="347472"/>
          </a:xfrm>
          <a:prstGeom prst="rect">
            <a:avLst/>
          </a:prstGeom>
          <a:noFill/>
          <a:ln/>
        </p:spPr>
        <p:txBody>
          <a:bodyPr wrap="square" lIns="0" tIns="0" rIns="0" bIns="0" rtlCol="0" anchor="t"/>
          <a:lstStyle/>
          <a:p>
            <a:pPr indent="0" marL="0">
              <a:buNone/>
            </a:pPr>
            <a:r>
              <a:rPr lang="en-US" sz="1050" dirty="0">
                <a:solidFill>
                  <a:schemeClr val="tx1"/>
                </a:solidFill>
              </a:rPr>
              <a:t>62.0 s  corridor delay with tactical control off (36.9 s on)</a:t>
            </a:r>
            <a:endParaRPr lang="en-US" sz="1050" dirty="0"/>
          </a:p>
        </p:txBody>
      </p:sp>
      <p:sp>
        <p:nvSpPr>
          <p:cNvPr id="33" name="concept card 7"/>
          <p:cNvSpPr/>
          <p:nvPr/>
        </p:nvSpPr>
        <p:spPr>
          <a:xfrm>
            <a:off x="411480" y="3493008"/>
            <a:ext cx="2651760" cy="1078992"/>
          </a:xfrm>
          <a:prstGeom prst="roundRect">
            <a:avLst>
              <a:gd name="adj" fmla="val 6780"/>
            </a:avLst>
          </a:prstGeom>
          <a:solidFill>
            <a:srgbClr val="EEF2F6"/>
          </a:solidFill>
          <a:ln w="12700">
            <a:solidFill>
              <a:srgbClr val="EEF2F6"/>
            </a:solidFill>
            <a:prstDash val="solid"/>
          </a:ln>
        </p:spPr>
      </p:sp>
      <p:sp>
        <p:nvSpPr>
          <p:cNvPr id="34" name="dot 7"/>
          <p:cNvSpPr/>
          <p:nvPr/>
        </p:nvSpPr>
        <p:spPr>
          <a:xfrm>
            <a:off x="548640" y="3630168"/>
            <a:ext cx="384048" cy="384048"/>
          </a:xfrm>
          <a:prstGeom prst="ellipse">
            <a:avLst/>
          </a:prstGeom>
          <a:solidFill>
            <a:srgbClr val="3F3266"/>
          </a:solidFill>
          <a:ln w="12700">
            <a:solidFill>
              <a:srgbClr val="3F3266"/>
            </a:solidFill>
            <a:prstDash val="solid"/>
          </a:ln>
        </p:spPr>
      </p:sp>
      <p:sp>
        <p:nvSpPr>
          <p:cNvPr id="35" name="Text 33"/>
          <p:cNvSpPr txBox="1"/>
          <p:nvPr/>
        </p:nvSpPr>
        <p:spPr>
          <a:xfrm>
            <a:off x="54864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6" name="Text 34"/>
          <p:cNvSpPr txBox="1"/>
          <p:nvPr/>
        </p:nvSpPr>
        <p:spPr>
          <a:xfrm>
            <a:off x="1005840" y="3566160"/>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Public transport priority</a:t>
            </a:r>
            <a:endParaRPr lang="en-US" sz="1300" dirty="0"/>
          </a:p>
        </p:txBody>
      </p:sp>
      <p:sp>
        <p:nvSpPr>
          <p:cNvPr id="37" name="Text 35"/>
          <p:cNvSpPr txBox="1"/>
          <p:nvPr/>
        </p:nvSpPr>
        <p:spPr>
          <a:xfrm>
            <a:off x="548640" y="4133088"/>
            <a:ext cx="2377440" cy="347472"/>
          </a:xfrm>
          <a:prstGeom prst="rect">
            <a:avLst/>
          </a:prstGeom>
          <a:noFill/>
          <a:ln/>
        </p:spPr>
        <p:txBody>
          <a:bodyPr wrap="square" lIns="0" tIns="0" rIns="0" bIns="0" rtlCol="0" anchor="t"/>
          <a:lstStyle/>
          <a:p>
            <a:pPr indent="0" marL="0">
              <a:buNone/>
            </a:pPr>
            <a:r>
              <a:rPr lang="en-US" sz="1050" dirty="0">
                <a:solidFill>
                  <a:schemeClr val="tx1"/>
                </a:solidFill>
              </a:rPr>
              <a:t>29.7 s  SCATS bus delay in Lab A1 (fixed 110.8 s)</a:t>
            </a:r>
            <a:endParaRPr lang="en-US" sz="1050" dirty="0"/>
          </a:p>
        </p:txBody>
      </p:sp>
      <p:sp>
        <p:nvSpPr>
          <p:cNvPr id="38" name="concept card 8"/>
          <p:cNvSpPr/>
          <p:nvPr/>
        </p:nvSpPr>
        <p:spPr>
          <a:xfrm>
            <a:off x="3246120" y="3493008"/>
            <a:ext cx="2651760" cy="1078992"/>
          </a:xfrm>
          <a:prstGeom prst="roundRect">
            <a:avLst>
              <a:gd name="adj" fmla="val 6780"/>
            </a:avLst>
          </a:prstGeom>
          <a:solidFill>
            <a:srgbClr val="EEF2F6"/>
          </a:solidFill>
          <a:ln w="12700">
            <a:solidFill>
              <a:srgbClr val="EEF2F6"/>
            </a:solidFill>
            <a:prstDash val="solid"/>
          </a:ln>
        </p:spPr>
      </p:sp>
      <p:sp>
        <p:nvSpPr>
          <p:cNvPr id="39" name="dot 8"/>
          <p:cNvSpPr/>
          <p:nvPr/>
        </p:nvSpPr>
        <p:spPr>
          <a:xfrm>
            <a:off x="3383280" y="3630168"/>
            <a:ext cx="384048" cy="384048"/>
          </a:xfrm>
          <a:prstGeom prst="ellipse">
            <a:avLst/>
          </a:prstGeom>
          <a:solidFill>
            <a:srgbClr val="4A4A5A"/>
          </a:solidFill>
          <a:ln w="12700">
            <a:solidFill>
              <a:srgbClr val="4A4A5A"/>
            </a:solidFill>
            <a:prstDash val="solid"/>
          </a:ln>
        </p:spPr>
      </p:sp>
      <p:sp>
        <p:nvSpPr>
          <p:cNvPr id="40" name="Text 38"/>
          <p:cNvSpPr txBox="1"/>
          <p:nvPr/>
        </p:nvSpPr>
        <p:spPr>
          <a:xfrm>
            <a:off x="338328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41" name="Text 39"/>
          <p:cNvSpPr txBox="1"/>
          <p:nvPr/>
        </p:nvSpPr>
        <p:spPr>
          <a:xfrm>
            <a:off x="3840480" y="3566160"/>
            <a:ext cx="1965960" cy="548640"/>
          </a:xfrm>
          <a:prstGeom prst="rect">
            <a:avLst/>
          </a:prstGeom>
          <a:noFill/>
          <a:ln/>
        </p:spPr>
        <p:txBody>
          <a:bodyPr wrap="square" lIns="0" tIns="0" rIns="0" bIns="0" rtlCol="0" anchor="ctr"/>
          <a:lstStyle/>
          <a:p>
            <a:pPr indent="0" marL="0">
              <a:buNone/>
            </a:pPr>
            <a:r>
              <a:rPr lang="en-US" sz="1300" b="1" dirty="0">
                <a:solidFill>
                  <a:schemeClr val="tx1"/>
                </a:solidFill>
              </a:rPr>
              <a:t>Operating modes and the full system on SUMO</a:t>
            </a:r>
            <a:endParaRPr lang="en-US" sz="1300" dirty="0"/>
          </a:p>
        </p:txBody>
      </p:sp>
      <p:sp>
        <p:nvSpPr>
          <p:cNvPr id="42" name="Text 40"/>
          <p:cNvSpPr txBox="1"/>
          <p:nvPr/>
        </p:nvSpPr>
        <p:spPr>
          <a:xfrm>
            <a:off x="3383280" y="4133088"/>
            <a:ext cx="2377440" cy="347472"/>
          </a:xfrm>
          <a:prstGeom prst="rect">
            <a:avLst/>
          </a:prstGeom>
          <a:noFill/>
          <a:ln/>
        </p:spPr>
        <p:txBody>
          <a:bodyPr wrap="square" lIns="0" tIns="0" rIns="0" bIns="0" rtlCol="0" anchor="t"/>
          <a:lstStyle/>
          <a:p>
            <a:pPr indent="0" marL="0">
              <a:buNone/>
            </a:pPr>
            <a:r>
              <a:rPr lang="en-US" sz="1050" dirty="0">
                <a:solidFill>
                  <a:schemeClr val="tx1"/>
                </a:solidFill>
              </a:rPr>
              <a:t>−52%  delay cut versus fixed time on the corridor</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Three surprises to start</a:t>
            </a:r>
            <a:endParaRPr lang="en-US" sz="2400" dirty="0"/>
          </a:p>
        </p:txBody>
      </p:sp>
      <p:sp>
        <p:nvSpPr>
          <p:cNvPr id="3" name="hook 1"/>
          <p:cNvSpPr/>
          <p:nvPr/>
        </p:nvSpPr>
        <p:spPr>
          <a:xfrm>
            <a:off x="411480" y="1005840"/>
            <a:ext cx="2651760" cy="3566160"/>
          </a:xfrm>
          <a:prstGeom prst="roundRect">
            <a:avLst>
              <a:gd name="adj" fmla="val 2759"/>
            </a:avLst>
          </a:prstGeom>
          <a:solidFill>
            <a:srgbClr val="EEF2F6"/>
          </a:solidFill>
          <a:ln w="12700">
            <a:solidFill>
              <a:srgbClr val="EEF2F6"/>
            </a:solidFill>
            <a:prstDash val="solid"/>
          </a:ln>
        </p:spPr>
      </p:sp>
      <p:sp>
        <p:nvSpPr>
          <p:cNvPr id="4" name="Shape 2"/>
          <p:cNvSpPr/>
          <p:nvPr/>
        </p:nvSpPr>
        <p:spPr>
          <a:xfrm>
            <a:off x="411480" y="1005840"/>
            <a:ext cx="2651760" cy="82296"/>
          </a:xfrm>
          <a:prstGeom prst="rect">
            <a:avLst/>
          </a:prstGeom>
          <a:solidFill>
            <a:srgbClr val="F2B526"/>
          </a:solidFill>
          <a:ln w="12700">
            <a:solidFill>
              <a:srgbClr val="F2B526"/>
            </a:solidFill>
            <a:prstDash val="solid"/>
          </a:ln>
        </p:spPr>
      </p:sp>
      <p:sp>
        <p:nvSpPr>
          <p:cNvPr id="5" name="Text 3"/>
          <p:cNvSpPr txBox="1"/>
          <p:nvPr/>
        </p:nvSpPr>
        <p:spPr>
          <a:xfrm>
            <a:off x="576072"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SCATS refuses to obey a single good result.</a:t>
            </a:r>
            <a:endParaRPr lang="en-US" sz="1500" dirty="0"/>
          </a:p>
        </p:txBody>
      </p:sp>
      <p:sp>
        <p:nvSpPr>
          <p:cNvPr id="6" name="Text 4"/>
          <p:cNvSpPr txBox="1"/>
          <p:nvPr/>
        </p:nvSpPr>
        <p:spPr>
          <a:xfrm>
            <a:off x="576072"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Even when a new split plan is clearly better this cycle, SCATS waits until it wins 2 of the last 3 cycles. For offsets it waits for 4 of 5. Patience is designed in, because a plan that flips every cycle disturbs drivers more than it helps them.</a:t>
            </a:r>
            <a:endParaRPr lang="en-US" sz="1150" dirty="0"/>
          </a:p>
        </p:txBody>
      </p:sp>
      <p:sp>
        <p:nvSpPr>
          <p:cNvPr id="7" name="hook 2"/>
          <p:cNvSpPr/>
          <p:nvPr/>
        </p:nvSpPr>
        <p:spPr>
          <a:xfrm>
            <a:off x="3218688" y="1005840"/>
            <a:ext cx="2651760" cy="3566160"/>
          </a:xfrm>
          <a:prstGeom prst="roundRect">
            <a:avLst>
              <a:gd name="adj" fmla="val 2759"/>
            </a:avLst>
          </a:prstGeom>
          <a:solidFill>
            <a:srgbClr val="EEF2F6"/>
          </a:solidFill>
          <a:ln w="12700">
            <a:solidFill>
              <a:srgbClr val="EEF2F6"/>
            </a:solidFill>
            <a:prstDash val="solid"/>
          </a:ln>
        </p:spPr>
      </p:sp>
      <p:sp>
        <p:nvSpPr>
          <p:cNvPr id="8" name="Shape 6"/>
          <p:cNvSpPr/>
          <p:nvPr/>
        </p:nvSpPr>
        <p:spPr>
          <a:xfrm>
            <a:off x="3218688" y="1005840"/>
            <a:ext cx="2651760" cy="82296"/>
          </a:xfrm>
          <a:prstGeom prst="rect">
            <a:avLst/>
          </a:prstGeom>
          <a:solidFill>
            <a:srgbClr val="F2B526"/>
          </a:solidFill>
          <a:ln w="12700">
            <a:solidFill>
              <a:srgbClr val="F2B526"/>
            </a:solidFill>
            <a:prstDash val="solid"/>
          </a:ln>
        </p:spPr>
      </p:sp>
      <p:sp>
        <p:nvSpPr>
          <p:cNvPr id="9" name="Text 7"/>
          <p:cNvSpPr txBox="1"/>
          <p:nvPr/>
        </p:nvSpPr>
        <p:spPr>
          <a:xfrm>
            <a:off x="3383280"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Junctions get married.</a:t>
            </a:r>
            <a:endParaRPr lang="en-US" sz="1500" dirty="0"/>
          </a:p>
        </p:txBody>
      </p:sp>
      <p:sp>
        <p:nvSpPr>
          <p:cNvPr id="10" name="Text 8"/>
          <p:cNvSpPr txBox="1"/>
          <p:nvPr/>
        </p:nvSpPr>
        <p:spPr>
          <a:xfrm>
            <a:off x="3383280"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Two neighbouring groups of signals can 'marry' to share one cycle and one clock, and 'divorce' when the traffic between them fades. The thresholds for marrying and divorcing are deliberately different, so they do not argue all day.</a:t>
            </a:r>
            <a:endParaRPr lang="en-US" sz="1150" dirty="0"/>
          </a:p>
        </p:txBody>
      </p:sp>
      <p:sp>
        <p:nvSpPr>
          <p:cNvPr id="11" name="hook 3"/>
          <p:cNvSpPr/>
          <p:nvPr/>
        </p:nvSpPr>
        <p:spPr>
          <a:xfrm>
            <a:off x="6025896" y="1005840"/>
            <a:ext cx="2651760" cy="3566160"/>
          </a:xfrm>
          <a:prstGeom prst="roundRect">
            <a:avLst>
              <a:gd name="adj" fmla="val 2759"/>
            </a:avLst>
          </a:prstGeom>
          <a:solidFill>
            <a:srgbClr val="EEF2F6"/>
          </a:solidFill>
          <a:ln w="12700">
            <a:solidFill>
              <a:srgbClr val="EEF2F6"/>
            </a:solidFill>
            <a:prstDash val="solid"/>
          </a:ln>
        </p:spPr>
      </p:sp>
      <p:sp>
        <p:nvSpPr>
          <p:cNvPr id="12" name="Shape 10"/>
          <p:cNvSpPr/>
          <p:nvPr/>
        </p:nvSpPr>
        <p:spPr>
          <a:xfrm>
            <a:off x="6025896" y="1005840"/>
            <a:ext cx="2651760" cy="82296"/>
          </a:xfrm>
          <a:prstGeom prst="rect">
            <a:avLst/>
          </a:prstGeom>
          <a:solidFill>
            <a:srgbClr val="F2B526"/>
          </a:solidFill>
          <a:ln w="12700">
            <a:solidFill>
              <a:srgbClr val="F2B526"/>
            </a:solidFill>
            <a:prstDash val="solid"/>
          </a:ln>
        </p:spPr>
      </p:sp>
      <p:sp>
        <p:nvSpPr>
          <p:cNvPr id="13" name="Text 11"/>
          <p:cNvSpPr txBox="1"/>
          <p:nvPr/>
        </p:nvSpPr>
        <p:spPr>
          <a:xfrm>
            <a:off x="6190488" y="1188720"/>
            <a:ext cx="2331720" cy="91440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Switching off cycle adaptation made our corridor slightly better.</a:t>
            </a:r>
            <a:endParaRPr lang="en-US" sz="1500" dirty="0"/>
          </a:p>
        </p:txBody>
      </p:sp>
      <p:sp>
        <p:nvSpPr>
          <p:cNvPr id="14" name="Text 12"/>
          <p:cNvSpPr txBox="1"/>
          <p:nvPr/>
        </p:nvSpPr>
        <p:spPr>
          <a:xfrm>
            <a:off x="6190488" y="2148840"/>
            <a:ext cx="2331720" cy="2331720"/>
          </a:xfrm>
          <a:prstGeom prst="rect">
            <a:avLst/>
          </a:prstGeom>
          <a:noFill/>
          <a:ln/>
        </p:spPr>
        <p:txBody>
          <a:bodyPr wrap="square" lIns="0" tIns="0" rIns="0" bIns="0" rtlCol="0" anchor="t"/>
          <a:lstStyle/>
          <a:p>
            <a:pPr indent="0" marL="0">
              <a:buNone/>
            </a:pPr>
            <a:r>
              <a:rPr lang="en-US" sz="1150" dirty="0">
                <a:solidFill>
                  <a:schemeClr val="tx1"/>
                </a:solidFill>
              </a:rPr>
              <a:t>In the SUMO ablation, freezing the cycle at 80 s gave 34.4 s of delay instead of 36.9 s, because 80 s happened to suit that demand. Switching off tactical control, by contrast, raised delay to 62.0 s. Not every mechanism matters equally on every road.</a:t>
            </a:r>
            <a:endParaRPr lang="en-US" sz="11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Words you will meet</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17324F"/>
                          </a:solidFill>
                        </a:rPr>
                        <a:t>Subsystem</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group of one to ten signals that share one cycle length so they can be coordinated.</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Critical intersection (CI)</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The busiest junction in a subsystem. Its DS decides the subsystem's cycle.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DS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Degree of saturation: how much of a green was really used by traffic. 0.9 means 90%.</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VK</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Reconstituted flow: SCATS's estimate of how many vehicles a green could have carried, from DS.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Split plan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stored way of sharing the cycle between phases, for example 50% / 20% / 30%.</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17720" y="960120"/>
          <a:ext cx="4069080" cy="914400"/>
        </p:xfrm>
        <a:graphic>
          <a:graphicData uri="http://schemas.openxmlformats.org/drawingml/2006/table">
            <a:tbl>
              <a:tblPr/>
              <a:tblGrid>
                <a:gridCol w="1325880"/>
                <a:gridCol w="2743200"/>
              </a:tblGrid>
              <a:tr h="0">
                <a:tc>
                  <a:txBody>
                    <a:bodyPr/>
                    <a:lstStyle/>
                    <a:p>
                      <a:pPr indent="0" marL="0">
                        <a:buNone/>
                      </a:pPr>
                      <a:r>
                        <a:rPr lang="en-US" sz="1300" b="1" dirty="0">
                          <a:solidFill>
                            <a:srgbClr val="17324F"/>
                          </a:solidFill>
                        </a:rPr>
                        <a:t>Offset plan</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A stored pattern of start times along a road, for example 'green wave eastbound'.</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Strategic control</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Decisions made once per cycle by the regional computer: cycle, splits, offsets, linking.</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Tactical control</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Decisions made every second by the local controller: end a green early, skip a phase.</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7324F"/>
                          </a:solidFill>
                        </a:rPr>
                        <a:t>Hysteresis</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rPr>
                        <a:t>Using a higher threshold to switch on than to switch off, so a decision does not flicker.</a:t>
                      </a:r>
                      <a:endParaRPr lang="en-US" sz="1200" dirty="0"/>
                    </a:p>
                  </a:txBody>
                  <a:tcPr marL="64008" marR="64008" marT="64008" marB="64008"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The map of today's ideas</a:t>
            </a:r>
            <a:endParaRPr lang="en-US" sz="2400" dirty="0"/>
          </a:p>
        </p:txBody>
      </p:sp>
      <p:pic>
        <p:nvPicPr>
          <p:cNvPr id="3" name="Image 0" descr="Concept map linking the ideas of this level">    </p:cNvPr>
          <p:cNvPicPr>
            <a:picLocks noChangeAspect="1"/>
          </p:cNvPicPr>
          <p:nvPr/>
        </p:nvPicPr>
        <p:blipFill>
          <a:blip r:embed="rId1"/>
          <a:stretch>
            <a:fillRect/>
          </a:stretch>
        </p:blipFill>
        <p:spPr>
          <a:xfrm>
            <a:off x="1429966" y="868680"/>
            <a:ext cx="6284068" cy="3886200"/>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B3954"/>
                </a:solidFill>
              </a:rPr>
              <a:t>1  </a:t>
            </a:r>
            <a:pPr indent="0" marL="0">
              <a:buNone/>
            </a:pPr>
            <a:r>
              <a:rPr lang="en-US" sz="2400" b="1" dirty="0">
                <a:solidFill>
                  <a:schemeClr val="tx2"/>
                </a:solidFill>
              </a:rPr>
              <a:t>Subsystems and the critical intersection</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rowing crew rows to one rhythm, and the stroke rower at the back sets it. If the stroke tires, the whole boat slows. The other rowers keep the same rhythm but each pulls with their own strength.</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Signals grouped into small subsystems</a:t>
            </a:r>
            <a:endParaRPr lang="en-US" sz="1600" dirty="0"/>
          </a:p>
          <a:p>
            <a:pPr marL="342900" indent="-342900">
              <a:spcAft>
                <a:spcPts val="800"/>
              </a:spcAft>
              <a:buSzPct val="100000"/>
              <a:buChar char="•"/>
            </a:pPr>
            <a:r>
              <a:rPr lang="en-US" sz="1600" dirty="0">
                <a:solidFill>
                  <a:schemeClr val="tx1"/>
                </a:solidFill>
              </a:rPr>
              <a:t>Critical intersection: the busiest one</a:t>
            </a:r>
            <a:endParaRPr lang="en-US" sz="1600" dirty="0"/>
          </a:p>
          <a:p>
            <a:pPr marL="342900" indent="-342900">
              <a:spcAft>
                <a:spcPts val="800"/>
              </a:spcAft>
              <a:buSzPct val="100000"/>
              <a:buChar char="•"/>
            </a:pPr>
            <a:r>
              <a:rPr lang="en-US" sz="1600" dirty="0">
                <a:solidFill>
                  <a:schemeClr val="tx1"/>
                </a:solidFill>
              </a:rPr>
              <a:t>CI's DS sets the shared cycle</a:t>
            </a:r>
            <a:endParaRPr lang="en-US" sz="1600" dirty="0"/>
          </a:p>
          <a:p>
            <a:pPr marL="342900" indent="-342900">
              <a:spcAft>
                <a:spcPts val="800"/>
              </a:spcAft>
              <a:buSzPct val="100000"/>
              <a:buChar char="•"/>
            </a:pPr>
            <a:r>
              <a:rPr lang="en-US" sz="1600" dirty="0">
                <a:solidFill>
                  <a:schemeClr val="tx1"/>
                </a:solidFill>
              </a:rPr>
              <a:t>Others keep own splits and offsets</a:t>
            </a:r>
            <a:endParaRPr lang="en-US" sz="1600" dirty="0"/>
          </a:p>
        </p:txBody>
      </p:sp>
      <p:sp>
        <p:nvSpPr>
          <p:cNvPr id="7" name="stat card"/>
          <p:cNvSpPr/>
          <p:nvPr/>
        </p:nvSpPr>
        <p:spPr>
          <a:xfrm>
            <a:off x="5806440" y="2240280"/>
            <a:ext cx="2926080" cy="2377440"/>
          </a:xfrm>
          <a:prstGeom prst="roundRect">
            <a:avLst>
              <a:gd name="adj" fmla="val 3077"/>
            </a:avLst>
          </a:prstGeom>
          <a:solidFill>
            <a:srgbClr val="0B3954"/>
          </a:solidFill>
          <a:ln w="12700">
            <a:solidFill>
              <a:srgbClr val="0B3954"/>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 to 10</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signals in a typical subsystem</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Which junction is critical?</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2F6"/>
          </a:solidFill>
          <a:ln w="12700">
            <a:solidFill>
              <a:srgbClr val="EEF2F6"/>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DS = (g − (T − n × h)) ÷ g</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Subsystem J1-J2-J3. At J2 the main phase had 30 s of green, the loop was empty for 22 s in total, 12 vehicles crossed, h = 1.6 s. J1 has DS 0.78 and J3 has DS 0.66.</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Space a busy stream needs: n × h = 12 × 1.6 = </a:t>
            </a:r>
            <a:pPr indent="0" marL="0">
              <a:buNone/>
            </a:pPr>
            <a:r>
              <a:rPr lang="en-US" sz="1150" b="1" dirty="0">
                <a:solidFill>
                  <a:srgbClr val="000000"/>
                </a:solidFill>
              </a:rPr>
              <a:t>19.2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Wasted green: T − n × h = 22 − 19.2 = </a:t>
            </a:r>
            <a:pPr indent="0" marL="0">
              <a:buNone/>
            </a:pPr>
            <a:r>
              <a:rPr lang="en-US" sz="1150" b="1" dirty="0">
                <a:solidFill>
                  <a:srgbClr val="000000"/>
                </a:solidFill>
              </a:rPr>
              <a:t>2.8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Used green: 30 − 2.8 = </a:t>
            </a:r>
            <a:pPr indent="0" marL="0">
              <a:buNone/>
            </a:pPr>
            <a:r>
              <a:rPr lang="en-US" sz="1150" b="1" dirty="0">
                <a:solidFill>
                  <a:srgbClr val="000000"/>
                </a:solidFill>
              </a:rPr>
              <a:t>27.2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DS at J2 = 27.2 ÷ 30 = </a:t>
            </a:r>
            <a:pPr indent="0" marL="0">
              <a:buNone/>
            </a:pPr>
            <a:r>
              <a:rPr lang="en-US" sz="1150" b="1" dirty="0">
                <a:solidFill>
                  <a:srgbClr val="000000"/>
                </a:solidFill>
              </a:rPr>
              <a:t>0.91</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Compare: J1 0.78, J2 0.91, J3 0.66. The highest is </a:t>
            </a:r>
            <a:pPr indent="0" marL="0">
              <a:buNone/>
            </a:pPr>
            <a:r>
              <a:rPr lang="en-US" sz="1150" b="1" dirty="0">
                <a:solidFill>
                  <a:srgbClr val="000000"/>
                </a:solidFill>
              </a:rPr>
              <a:t>J2</a:t>
            </a:r>
            <a:pPr indent="0" marL="0">
              <a:buNone/>
            </a:pPr>
            <a:r>
              <a:rPr lang="en-US" sz="1150" dirty="0">
                <a:solidFill>
                  <a:srgbClr val="000000"/>
                </a:solidFill>
              </a:rPr>
              <a:t>.</a:t>
            </a:r>
            <a:endParaRPr lang="en-US" sz="1100" dirty="0"/>
          </a:p>
          <a:p>
            <a:pPr indent="0" marL="0">
              <a:buNone/>
            </a:pPr>
            <a:r>
              <a:rPr lang="en-US" sz="1150" b="1" dirty="0">
                <a:solidFill>
                  <a:schemeClr val="tx2"/>
                </a:solidFill>
              </a:rPr>
              <a:t>J2 is the busiest and is the natural CI. Its 0.91 will drive the subsystem's next cycle length.</a:t>
            </a:r>
            <a:endParaRPr lang="en-US" sz="1100" dirty="0"/>
          </a:p>
        </p:txBody>
      </p:sp>
      <p:pic>
        <p:nvPicPr>
          <p:cNvPr id="6" name="Image 0" descr="The strategic loop, once per cycle.">    </p:cNvPr>
          <p:cNvPicPr>
            <a:picLocks noChangeAspect="1"/>
          </p:cNvPicPr>
          <p:nvPr/>
        </p:nvPicPr>
        <p:blipFill>
          <a:blip r:embed="rId1"/>
          <a:stretch>
            <a:fillRect/>
          </a:stretch>
        </p:blipFill>
        <p:spPr>
          <a:xfrm>
            <a:off x="4709160" y="1994352"/>
            <a:ext cx="4023360" cy="2073769"/>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Subsystems &amp; CI</a:t>
            </a:r>
            <a:endParaRPr lang="en-US" sz="2400" dirty="0"/>
          </a:p>
        </p:txBody>
      </p:sp>
      <p:pic>
        <p:nvPicPr>
          <p:cNvPr id="3" name="Image 0" descr="Mind map of Subsystems and the critical intersection">    </p:cNvPr>
          <p:cNvPicPr>
            <a:picLocks noChangeAspect="1"/>
          </p:cNvPicPr>
          <p:nvPr/>
        </p:nvPicPr>
        <p:blipFill>
          <a:blip r:embed="rId1"/>
          <a:stretch>
            <a:fillRect/>
          </a:stretch>
        </p:blipFill>
        <p:spPr>
          <a:xfrm>
            <a:off x="411480" y="1127890"/>
            <a:ext cx="8321040" cy="1721860"/>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1: FERRY WHARF</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wharf, a team of up to ten little ferries is tied together with one rope. The biggest, puffing ferry at the front wears a captain's hat and bangs a drum; all the others row to its beat.</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The CI is not 'the junction in the middle' or 'the first one'. It is the one whose demand limits the cycle, usually the busiest. Picking a quiet CI makes the whole subsystem's cycle too short.</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04505A"/>
                </a:solidFill>
              </a:rPr>
              <a:t>2  </a:t>
            </a:r>
            <a:pPr indent="0" marL="0">
              <a:buNone/>
            </a:pPr>
            <a:r>
              <a:rPr lang="en-US" sz="2400" b="1" dirty="0">
                <a:solidFill>
                  <a:schemeClr val="tx2"/>
                </a:solidFill>
              </a:rPr>
              <a:t>Cycle length: bounded steps towards a target DS</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Steering a big ship: you see the harbour entrance, but you turn the wheel a little each minute rather than spinning it. A small, steady correction is safer than one big turn based on one reading.</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Desired cycle = C × DS ÷ 0.9</a:t>
            </a:r>
            <a:endParaRPr lang="en-US" sz="1600" dirty="0"/>
          </a:p>
          <a:p>
            <a:pPr marL="342900" indent="-342900">
              <a:spcAft>
                <a:spcPts val="800"/>
              </a:spcAft>
              <a:buSzPct val="100000"/>
              <a:buChar char="•"/>
            </a:pPr>
            <a:r>
              <a:rPr lang="en-US" sz="1600" dirty="0">
                <a:solidFill>
                  <a:schemeClr val="tx1"/>
                </a:solidFill>
              </a:rPr>
              <a:t>Move at most 6 s (9 if overloaded)</a:t>
            </a:r>
            <a:endParaRPr lang="en-US" sz="1600" dirty="0"/>
          </a:p>
          <a:p>
            <a:pPr marL="342900" indent="-342900">
              <a:spcAft>
                <a:spcPts val="800"/>
              </a:spcAft>
              <a:buSzPct val="100000"/>
              <a:buChar char="•"/>
            </a:pPr>
            <a:r>
              <a:rPr lang="en-US" sz="1600" dirty="0">
                <a:solidFill>
                  <a:schemeClr val="tx1"/>
                </a:solidFill>
              </a:rPr>
              <a:t>Stay between 40 and 140 s</a:t>
            </a:r>
            <a:endParaRPr lang="en-US" sz="1600" dirty="0"/>
          </a:p>
          <a:p>
            <a:pPr marL="342900" indent="-342900">
              <a:spcAft>
                <a:spcPts val="800"/>
              </a:spcAft>
              <a:buSzPct val="100000"/>
              <a:buChar char="•"/>
            </a:pPr>
            <a:r>
              <a:rPr lang="en-US" sz="1600" dirty="0">
                <a:solidFill>
                  <a:schemeClr val="tx1"/>
                </a:solidFill>
              </a:rPr>
              <a:t>Above 110 s, extra goes to main road</a:t>
            </a:r>
            <a:endParaRPr lang="en-US" sz="1600" dirty="0"/>
          </a:p>
        </p:txBody>
      </p:sp>
      <p:sp>
        <p:nvSpPr>
          <p:cNvPr id="7" name="stat card"/>
          <p:cNvSpPr/>
          <p:nvPr/>
        </p:nvSpPr>
        <p:spPr>
          <a:xfrm>
            <a:off x="5806440" y="2240280"/>
            <a:ext cx="2926080" cy="2377440"/>
          </a:xfrm>
          <a:prstGeom prst="roundRect">
            <a:avLst>
              <a:gd name="adj" fmla="val 3077"/>
            </a:avLst>
          </a:prstGeom>
          <a:solidFill>
            <a:srgbClr val="04505A"/>
          </a:solidFill>
          <a:ln w="12700">
            <a:solidFill>
              <a:srgbClr val="04505A"/>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 / +9 s</a:t>
            </a:r>
            <a:endParaRPr lang="en-US" sz="30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largest cycle increase per cycle</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Two cycles of a rising peak</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desired = C × DS ÷ DS</a:t>
            </a:r>
            <a:pPr algn="ctr" indent="0" marL="0">
              <a:buNone/>
            </a:pPr>
            <a:r>
              <a:rPr lang="en-US" sz="1350" baseline="-40000" dirty="0">
                <a:solidFill>
                  <a:schemeClr val="tx2"/>
                </a:solidFill>
                <a:latin typeface="Cambria" pitchFamily="34" charset="0"/>
                <a:ea typeface="Cambria" pitchFamily="34" charset="-122"/>
                <a:cs typeface="Cambria" pitchFamily="34" charset="-120"/>
              </a:rPr>
              <a:t>target</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C</a:t>
            </a:r>
            <a:pPr algn="ctr" indent="0" marL="0">
              <a:buNone/>
            </a:pPr>
            <a:r>
              <a:rPr lang="en-US" sz="1350" baseline="-40000" dirty="0">
                <a:solidFill>
                  <a:schemeClr val="tx2"/>
                </a:solidFill>
                <a:latin typeface="Cambria" pitchFamily="34" charset="0"/>
                <a:ea typeface="Cambria" pitchFamily="34" charset="-122"/>
                <a:cs typeface="Cambria" pitchFamily="34" charset="-120"/>
              </a:rPr>
              <a:t>next</a:t>
            </a:r>
            <a:pPr algn="ctr" indent="0" marL="0">
              <a:buNone/>
            </a:pPr>
            <a:r>
              <a:rPr lang="en-US" sz="1350" dirty="0">
                <a:solidFill>
                  <a:schemeClr val="tx2"/>
                </a:solidFill>
                <a:latin typeface="Cambria" pitchFamily="34" charset="0"/>
                <a:ea typeface="Cambria" pitchFamily="34" charset="-122"/>
                <a:cs typeface="Cambria" pitchFamily="34" charset="-120"/>
              </a:rPr>
              <a:t> = C + clamp(desired − C, −6, +6 or +9)</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The CI runs an 80 s cycle and measures DS = 1.05. Target 0.9.</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Desired = 80 × 1.05 ÷ 0.9 = </a:t>
            </a:r>
            <a:pPr indent="0" marL="0">
              <a:buNone/>
            </a:pPr>
            <a:r>
              <a:rPr lang="en-US" sz="1150" b="1" dirty="0">
                <a:solidFill>
                  <a:srgbClr val="000000"/>
                </a:solidFill>
              </a:rPr>
              <a:t>93.3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Gap = 93.3 − 80 = 13.3 s. DS ≥ 1, so the step limit is 9 s.</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Next cycle = 80 + 9 = </a:t>
            </a:r>
            <a:pPr indent="0" marL="0">
              <a:buNone/>
            </a:pPr>
            <a:r>
              <a:rPr lang="en-US" sz="1150" b="1" dirty="0">
                <a:solidFill>
                  <a:srgbClr val="000000"/>
                </a:solidFill>
              </a:rPr>
              <a:t>89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Next DS = 0.97: desired = 89 × 0.97 ÷ 0.9 = </a:t>
            </a:r>
            <a:pPr indent="0" marL="0">
              <a:buNone/>
            </a:pPr>
            <a:r>
              <a:rPr lang="en-US" sz="1150" b="1" dirty="0">
                <a:solidFill>
                  <a:srgbClr val="000000"/>
                </a:solidFill>
              </a:rPr>
              <a:t>95.9 s</a:t>
            </a:r>
            <a:pPr indent="0" marL="0">
              <a:buNone/>
            </a:pPr>
            <a:r>
              <a:rPr lang="en-US" sz="1150" dirty="0">
                <a:solidFill>
                  <a:srgbClr val="000000"/>
                </a:solidFill>
              </a:rPr>
              <a:t>; gap 6.9 s; limit 6 s (DS &lt; 1).</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Next cycle = 89 + 6 = </a:t>
            </a:r>
            <a:pPr indent="0" marL="0">
              <a:buNone/>
            </a:pPr>
            <a:r>
              <a:rPr lang="en-US" sz="1150" b="1" dirty="0">
                <a:solidFill>
                  <a:srgbClr val="000000"/>
                </a:solidFill>
              </a:rPr>
              <a:t>95 s</a:t>
            </a:r>
            <a:pPr indent="0" marL="0">
              <a:buNone/>
            </a:pPr>
            <a:r>
              <a:rPr lang="en-US" sz="1150" dirty="0">
                <a:solidFill>
                  <a:srgbClr val="000000"/>
                </a:solidFill>
              </a:rPr>
              <a:t>.</a:t>
            </a:r>
            <a:endParaRPr lang="en-US" sz="1100" dirty="0"/>
          </a:p>
          <a:p>
            <a:pPr indent="0" marL="0">
              <a:buNone/>
            </a:pPr>
            <a:r>
              <a:rPr lang="en-US" sz="1150" b="1" dirty="0">
                <a:solidFill>
                  <a:schemeClr val="tx2"/>
                </a:solidFill>
              </a:rPr>
              <a:t>In two cycles SCATS moved from 80 s to 95 s, never by more than its step limit.</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Cycle length</a:t>
            </a:r>
            <a:endParaRPr lang="en-US" sz="2400" dirty="0"/>
          </a:p>
        </p:txBody>
      </p:sp>
      <p:pic>
        <p:nvPicPr>
          <p:cNvPr id="3" name="Image 0" descr="Mind map of Cycle length: bounded steps towards a target DS">    </p:cNvPr>
          <p:cNvPicPr>
            <a:picLocks noChangeAspect="1"/>
          </p:cNvPicPr>
          <p:nvPr/>
        </p:nvPicPr>
        <p:blipFill>
          <a:blip r:embed="rId1"/>
          <a:stretch>
            <a:fillRect/>
          </a:stretch>
        </p:blipFill>
        <p:spPr>
          <a:xfrm>
            <a:off x="411480" y="1006779"/>
            <a:ext cx="8321040" cy="1964081"/>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2: OPERA HOUSE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Inside the opera house a conductor speeds up the orchestra, but a rope on his baton lets him move it only six beats faster at a time, nine if the audience is stampeding. The tempo dial runs from 40 to 140, and a big '0.9' glows above the stage.</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The step limit is applied to the change, not to the cycle. 'Up 6 s' means Cnext = C + 6 at most, not Cnext = 6. And a low DS does not crash the cycle to LMIN; it walks down 6 s at a time.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2F5A1C"/>
                </a:solidFill>
              </a:rPr>
              <a:t>3  </a:t>
            </a:r>
            <a:pPr indent="0" marL="0">
              <a:buNone/>
            </a:pPr>
            <a:r>
              <a:rPr lang="en-US" sz="2400" b="1" dirty="0">
                <a:solidFill>
                  <a:schemeClr val="tx2"/>
                </a:solidFill>
              </a:rPr>
              <a:t>Split plans: equalise DS, then vote</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Sharing pizzas at a party: you look at which table emptied its plate fastest and which left slices, then pick the seating plan that leaves every table equally full. You only move people if the same plan looks best twice out of three times.</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Predict each phase's DS under each plan</a:t>
            </a:r>
            <a:endParaRPr lang="en-US" sz="1600" dirty="0"/>
          </a:p>
          <a:p>
            <a:pPr marL="342900" indent="-342900">
              <a:spcAft>
                <a:spcPts val="800"/>
              </a:spcAft>
              <a:buSzPct val="100000"/>
              <a:buChar char="•"/>
            </a:pPr>
            <a:r>
              <a:rPr lang="en-US" sz="1600" dirty="0">
                <a:solidFill>
                  <a:schemeClr val="tx1"/>
                </a:solidFill>
              </a:rPr>
              <a:t>Pick plan with lowest worst-phase DS</a:t>
            </a:r>
            <a:endParaRPr lang="en-US" sz="1600" dirty="0"/>
          </a:p>
          <a:p>
            <a:pPr marL="342900" indent="-342900">
              <a:spcAft>
                <a:spcPts val="800"/>
              </a:spcAft>
              <a:buSzPct val="100000"/>
              <a:buChar char="•"/>
            </a:pPr>
            <a:r>
              <a:rPr lang="en-US" sz="1600" dirty="0">
                <a:solidFill>
                  <a:schemeClr val="tx1"/>
                </a:solidFill>
              </a:rPr>
              <a:t>Adopt only after 2 of 3 wins</a:t>
            </a:r>
            <a:endParaRPr lang="en-US" sz="1600" dirty="0"/>
          </a:p>
          <a:p>
            <a:pPr marL="342900" indent="-342900">
              <a:spcAft>
                <a:spcPts val="800"/>
              </a:spcAft>
              <a:buSzPct val="100000"/>
              <a:buChar char="•"/>
            </a:pPr>
            <a:r>
              <a:rPr lang="en-US" sz="1600" dirty="0">
                <a:solidFill>
                  <a:schemeClr val="tx1"/>
                </a:solidFill>
              </a:rPr>
              <a:t>Plans are stored, not invented</a:t>
            </a:r>
            <a:endParaRPr lang="en-US" sz="1600" dirty="0"/>
          </a:p>
        </p:txBody>
      </p:sp>
      <p:sp>
        <p:nvSpPr>
          <p:cNvPr id="7" name="stat card"/>
          <p:cNvSpPr/>
          <p:nvPr/>
        </p:nvSpPr>
        <p:spPr>
          <a:xfrm>
            <a:off x="5806440" y="2240280"/>
            <a:ext cx="2926080" cy="2377440"/>
          </a:xfrm>
          <a:prstGeom prst="roundRect">
            <a:avLst>
              <a:gd name="adj" fmla="val 3077"/>
            </a:avLst>
          </a:prstGeom>
          <a:solidFill>
            <a:srgbClr val="2F5A1C"/>
          </a:solidFill>
          <a:ln w="12700">
            <a:solidFill>
              <a:srgbClr val="2F5A1C"/>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 of 3</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wins a split plan needs before it runs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Choosing among three plans</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DS</a:t>
            </a:r>
            <a:pPr algn="ctr" indent="0" marL="0">
              <a:buNone/>
            </a:pPr>
            <a:r>
              <a:rPr lang="en-US" sz="1350" baseline="-40000" dirty="0">
                <a:solidFill>
                  <a:schemeClr val="tx2"/>
                </a:solidFill>
                <a:latin typeface="Cambria" pitchFamily="34" charset="0"/>
                <a:ea typeface="Cambria" pitchFamily="34" charset="-122"/>
                <a:cs typeface="Cambria" pitchFamily="34" charset="-120"/>
              </a:rPr>
              <a:t>plan</a:t>
            </a:r>
            <a:pPr algn="ctr" indent="0" marL="0">
              <a:buNone/>
            </a:pPr>
            <a:r>
              <a:rPr lang="en-US" sz="1350" dirty="0">
                <a:solidFill>
                  <a:schemeClr val="tx2"/>
                </a:solidFill>
                <a:latin typeface="Cambria" pitchFamily="34" charset="0"/>
                <a:ea typeface="Cambria" pitchFamily="34" charset="-122"/>
                <a:cs typeface="Cambria" pitchFamily="34" charset="-120"/>
              </a:rPr>
              <a:t> = DS × g</a:t>
            </a:r>
            <a:pPr algn="ctr" indent="0" marL="0">
              <a:buNone/>
            </a:pPr>
            <a:r>
              <a:rPr lang="en-US" sz="1350" baseline="-40000" dirty="0">
                <a:solidFill>
                  <a:schemeClr val="tx2"/>
                </a:solidFill>
                <a:latin typeface="Cambria" pitchFamily="34" charset="0"/>
                <a:ea typeface="Cambria" pitchFamily="34" charset="-122"/>
                <a:cs typeface="Cambria" pitchFamily="34" charset="-120"/>
              </a:rPr>
              <a:t>now</a:t>
            </a:r>
            <a:pPr algn="ctr" indent="0" marL="0">
              <a:buNone/>
            </a:pPr>
            <a:r>
              <a:rPr lang="en-US" sz="1350" dirty="0">
                <a:solidFill>
                  <a:schemeClr val="tx2"/>
                </a:solidFill>
                <a:latin typeface="Cambria" pitchFamily="34" charset="0"/>
                <a:ea typeface="Cambria" pitchFamily="34" charset="-122"/>
                <a:cs typeface="Cambria" pitchFamily="34" charset="-120"/>
              </a:rPr>
              <a:t> ÷ g</a:t>
            </a:r>
            <a:pPr algn="ctr" indent="0" marL="0">
              <a:buNone/>
            </a:pPr>
            <a:r>
              <a:rPr lang="en-US" sz="1350" baseline="-40000" dirty="0">
                <a:solidFill>
                  <a:schemeClr val="tx2"/>
                </a:solidFill>
                <a:latin typeface="Cambria" pitchFamily="34" charset="0"/>
                <a:ea typeface="Cambria" pitchFamily="34" charset="-122"/>
                <a:cs typeface="Cambria" pitchFamily="34" charset="-120"/>
              </a:rPr>
              <a:t>plan</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best plan = the one with the smallest max(DS</a:t>
            </a:r>
            <a:pPr algn="ctr" indent="0" marL="0">
              <a:buNone/>
            </a:pPr>
            <a:r>
              <a:rPr lang="en-US" sz="1350" baseline="-40000" dirty="0">
                <a:solidFill>
                  <a:schemeClr val="tx2"/>
                </a:solidFill>
                <a:latin typeface="Cambria" pitchFamily="34" charset="0"/>
                <a:ea typeface="Cambria" pitchFamily="34" charset="-122"/>
                <a:cs typeface="Cambria" pitchFamily="34" charset="-120"/>
              </a:rPr>
              <a:t>plan</a:t>
            </a:r>
            <a:pPr algn="ctr" indent="0" marL="0">
              <a:buNone/>
            </a:pPr>
            <a:r>
              <a:rPr lang="en-US" sz="1350" dirty="0">
                <a:solidFill>
                  <a:schemeClr val="tx2"/>
                </a:solidFill>
                <a:latin typeface="Cambria" pitchFamily="34" charset="0"/>
                <a:ea typeface="Cambria" pitchFamily="34" charset="-122"/>
                <a:cs typeface="Cambria" pitchFamily="34" charset="-120"/>
              </a:rPr>
              <a:t>)</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Greens now (plan SP1): A 40 s, B 15 s, C 20 s. Measured DS: A 0.95, B 0.50, C 0.70. SP2 gives 45/12/18 s, SP3 gives 35/15/25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SP1 (no change): 0.95, 0.50, 0.70. Highest </a:t>
            </a:r>
            <a:pPr indent="0" marL="0">
              <a:buNone/>
            </a:pPr>
            <a:r>
              <a:rPr lang="en-US" sz="1150" b="1" dirty="0">
                <a:solidFill>
                  <a:srgbClr val="000000"/>
                </a:solidFill>
              </a:rPr>
              <a:t>0.95</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SP2: A 0.95 × 40 ÷ 45 = 0.84; B 0.50 × 15 ÷ 12 = 0.63; C 0.70 × 20 ÷ 18 = 0.78. Highest </a:t>
            </a:r>
            <a:pPr indent="0" marL="0">
              <a:buNone/>
            </a:pPr>
            <a:r>
              <a:rPr lang="en-US" sz="1150" b="1" dirty="0">
                <a:solidFill>
                  <a:srgbClr val="000000"/>
                </a:solidFill>
              </a:rPr>
              <a:t>0.84</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SP3: A 0.95 × 40 ÷ 35 = 1.09; B 0.50; C 0.70 × 20 ÷ 25 = 0.56. Highest </a:t>
            </a:r>
            <a:pPr indent="0" marL="0">
              <a:buNone/>
            </a:pPr>
            <a:r>
              <a:rPr lang="en-US" sz="1150" b="1" dirty="0">
                <a:solidFill>
                  <a:srgbClr val="000000"/>
                </a:solidFill>
              </a:rPr>
              <a:t>1.09</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Smallest 'highest' is SP2 (0.84). SP2 gets this cycle's vote.</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If SP2 also wins one of the next two cycles, it goes into service.</a:t>
            </a:r>
            <a:endParaRPr lang="en-US" sz="1100" dirty="0"/>
          </a:p>
          <a:p>
            <a:pPr indent="0" marL="0">
              <a:buNone/>
            </a:pPr>
            <a:r>
              <a:rPr lang="en-US" sz="1150" b="1" dirty="0">
                <a:solidFill>
                  <a:schemeClr val="tx2"/>
                </a:solidFill>
              </a:rPr>
              <a:t>SP2 takes 5 s from the quiet side road and turn and gives them to the overloaded main road, bringing the worst DS down from 0.95 to 0.84.</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Split plans</a:t>
            </a:r>
            <a:endParaRPr lang="en-US" sz="2400" dirty="0"/>
          </a:p>
        </p:txBody>
      </p:sp>
      <p:pic>
        <p:nvPicPr>
          <p:cNvPr id="3" name="Image 0" descr="Mind map of Split plans: equalise DS, then vote">    </p:cNvPr>
          <p:cNvPicPr>
            <a:picLocks noChangeAspect="1"/>
          </p:cNvPicPr>
          <p:nvPr/>
        </p:nvPicPr>
        <p:blipFill>
          <a:blip r:embed="rId1"/>
          <a:stretch>
            <a:fillRect/>
          </a:stretch>
        </p:blipFill>
        <p:spPr>
          <a:xfrm>
            <a:off x="411480" y="1123432"/>
            <a:ext cx="8321040" cy="1730776"/>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3: FISH MARKET</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fish market a stallholder balances three trays of fish on a giant see-saw scale, swapping fish until no tray sags. Before she nails the trays down, three seagulls vote; she needs two squawks for the same tray layout.</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Do not pick the plan with the lowest average DS. SP3 has a fine average but pushes phase A above 1. SCATS minimises the worst phase.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8F3520"/>
                </a:solidFill>
              </a:rPr>
              <a:t>4  </a:t>
            </a:r>
            <a:pPr indent="0" marL="0">
              <a:buNone/>
            </a:pPr>
            <a:r>
              <a:rPr lang="en-US" sz="2400" b="1" dirty="0">
                <a:solidFill>
                  <a:schemeClr val="tx2"/>
                </a:solidFill>
              </a:rPr>
              <a:t>Offsets and green waves</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Mexican wave in a stadium: each section stands up a moment after its neighbour, timed so the wave travels at a steady speed. Time the lights the same way, and a platoon of cars rides the wave of greens.</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Offset = travel time from reference</a:t>
            </a:r>
            <a:endParaRPr lang="en-US" sz="1600" dirty="0"/>
          </a:p>
          <a:p>
            <a:pPr marL="342900" indent="-342900">
              <a:spcAft>
                <a:spcPts val="800"/>
              </a:spcAft>
              <a:buSzPct val="100000"/>
              <a:buChar char="•"/>
            </a:pPr>
            <a:r>
              <a:rPr lang="en-US" sz="1600" dirty="0">
                <a:solidFill>
                  <a:schemeClr val="tx1"/>
                </a:solidFill>
              </a:rPr>
              <a:t>Wrap round the cycle (mod C)</a:t>
            </a:r>
            <a:endParaRPr lang="en-US" sz="1600" dirty="0"/>
          </a:p>
          <a:p>
            <a:pPr marL="342900" indent="-342900">
              <a:spcAft>
                <a:spcPts val="800"/>
              </a:spcAft>
              <a:buSzPct val="100000"/>
              <a:buChar char="•"/>
            </a:pPr>
            <a:r>
              <a:rPr lang="en-US" sz="1600" dirty="0">
                <a:solidFill>
                  <a:schemeClr val="tx1"/>
                </a:solidFill>
              </a:rPr>
              <a:t>Heavier direction gets the wave</a:t>
            </a:r>
            <a:endParaRPr lang="en-US" sz="1600" dirty="0"/>
          </a:p>
          <a:p>
            <a:pPr marL="342900" indent="-342900">
              <a:spcAft>
                <a:spcPts val="800"/>
              </a:spcAft>
              <a:buSzPct val="100000"/>
              <a:buChar char="•"/>
            </a:pPr>
            <a:r>
              <a:rPr lang="en-US" sz="1600" dirty="0">
                <a:solidFill>
                  <a:schemeClr val="tx1"/>
                </a:solidFill>
              </a:rPr>
              <a:t>Adopt after 4 of 5 votes</a:t>
            </a:r>
            <a:endParaRPr lang="en-US" sz="1600" dirty="0"/>
          </a:p>
        </p:txBody>
      </p:sp>
      <p:sp>
        <p:nvSpPr>
          <p:cNvPr id="7" name="stat card"/>
          <p:cNvSpPr/>
          <p:nvPr/>
        </p:nvSpPr>
        <p:spPr>
          <a:xfrm>
            <a:off x="5806440" y="2240280"/>
            <a:ext cx="2926080" cy="2377440"/>
          </a:xfrm>
          <a:prstGeom prst="roundRect">
            <a:avLst>
              <a:gd name="adj" fmla="val 3077"/>
            </a:avLst>
          </a:prstGeom>
          <a:solidFill>
            <a:srgbClr val="8F3520"/>
          </a:solidFill>
          <a:ln w="12700">
            <a:solidFill>
              <a:srgbClr val="8F3520"/>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21.6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offset step for 300 m at 50 km/h</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An eastbound wave on four junctions</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OP1: offset</a:t>
            </a:r>
            <a:pPr algn="ctr" indent="0" marL="0">
              <a:buNone/>
            </a:pPr>
            <a:r>
              <a:rPr lang="en-US" sz="1350" baseline="-40000" dirty="0">
                <a:solidFill>
                  <a:schemeClr val="tx2"/>
                </a:solidFill>
                <a:latin typeface="Cambria" pitchFamily="34" charset="0"/>
                <a:ea typeface="Cambria" pitchFamily="34" charset="-122"/>
                <a:cs typeface="Cambria" pitchFamily="34" charset="-120"/>
              </a:rPr>
              <a:t>i</a:t>
            </a:r>
            <a:pPr algn="ctr" indent="0" marL="0">
              <a:buNone/>
            </a:pPr>
            <a:r>
              <a:rPr lang="en-US" sz="1350" dirty="0">
                <a:solidFill>
                  <a:schemeClr val="tx2"/>
                </a:solidFill>
                <a:latin typeface="Cambria" pitchFamily="34" charset="0"/>
                <a:ea typeface="Cambria" pitchFamily="34" charset="-122"/>
                <a:cs typeface="Cambria" pitchFamily="34" charset="-120"/>
              </a:rPr>
              <a:t> = (x</a:t>
            </a:r>
            <a:pPr algn="ctr" indent="0" marL="0">
              <a:buNone/>
            </a:pPr>
            <a:r>
              <a:rPr lang="en-US" sz="1350" baseline="-40000" dirty="0">
                <a:solidFill>
                  <a:schemeClr val="tx2"/>
                </a:solidFill>
                <a:latin typeface="Cambria" pitchFamily="34" charset="0"/>
                <a:ea typeface="Cambria" pitchFamily="34" charset="-122"/>
                <a:cs typeface="Cambria" pitchFamily="34" charset="-120"/>
              </a:rPr>
              <a:t>i</a:t>
            </a:r>
            <a:pPr algn="ctr" indent="0" marL="0">
              <a:buNone/>
            </a:pPr>
            <a:r>
              <a:rPr lang="en-US" sz="1350" dirty="0">
                <a:solidFill>
                  <a:schemeClr val="tx2"/>
                </a:solidFill>
                <a:latin typeface="Cambria" pitchFamily="34" charset="0"/>
                <a:ea typeface="Cambria" pitchFamily="34" charset="-122"/>
                <a:cs typeface="Cambria" pitchFamily="34" charset="-120"/>
              </a:rPr>
              <a:t> − x</a:t>
            </a:r>
            <a:pPr algn="ctr" indent="0" marL="0">
              <a:buNone/>
            </a:pPr>
            <a:r>
              <a:rPr lang="en-US" sz="1350" baseline="-40000" dirty="0">
                <a:solidFill>
                  <a:schemeClr val="tx2"/>
                </a:solidFill>
                <a:latin typeface="Cambria" pitchFamily="34" charset="0"/>
                <a:ea typeface="Cambria" pitchFamily="34" charset="-122"/>
                <a:cs typeface="Cambria" pitchFamily="34" charset="-120"/>
              </a:rPr>
              <a:t>ref</a:t>
            </a:r>
            <a:pPr algn="ctr" indent="0" marL="0">
              <a:buNone/>
            </a:pPr>
            <a:r>
              <a:rPr lang="en-US" sz="1350" dirty="0">
                <a:solidFill>
                  <a:schemeClr val="tx2"/>
                </a:solidFill>
                <a:latin typeface="Cambria" pitchFamily="34" charset="0"/>
                <a:ea typeface="Cambria" pitchFamily="34" charset="-122"/>
                <a:cs typeface="Cambria" pitchFamily="34" charset="-120"/>
              </a:rPr>
              <a:t>) ÷ v   (mod C)</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OP4: offset = C ÷ 2 at every second junction</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Junctions every 300 m, progression speed 13.9 m/s (50 km/h), cycle 80 s. VK eastbound 20, westbound 12.</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Travel time per link: 300 ÷ 13.9 = </a:t>
            </a:r>
            <a:pPr indent="0" marL="0">
              <a:buNone/>
            </a:pPr>
            <a:r>
              <a:rPr lang="en-US" sz="1150" b="1" dirty="0">
                <a:solidFill>
                  <a:srgbClr val="000000"/>
                </a:solidFill>
              </a:rPr>
              <a:t>21.6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OP1 offsets: 0, 21.6, 43.2, 64.7 s (all under 80, no wrapping).</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OP2 offsets: 0, −21.6, −43.2, −64.7 → mod 80 = 0, </a:t>
            </a:r>
            <a:pPr indent="0" marL="0">
              <a:buNone/>
            </a:pPr>
            <a:r>
              <a:rPr lang="en-US" sz="1150" b="1" dirty="0">
                <a:solidFill>
                  <a:srgbClr val="000000"/>
                </a:solidFill>
              </a:rPr>
              <a:t>58.4, 36.8, 15.3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Is east clearly heavier? 1.3 × 12 = 15.6, and 20 &gt; 15.6, so </a:t>
            </a:r>
            <a:pPr indent="0" marL="0">
              <a:buNone/>
            </a:pPr>
            <a:r>
              <a:rPr lang="en-US" sz="1150" b="1" dirty="0">
                <a:solidFill>
                  <a:srgbClr val="000000"/>
                </a:solidFill>
              </a:rPr>
              <a:t>yes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This cycle votes OP1; it is adopted once it wins 4 of the last 5 votes.</a:t>
            </a:r>
            <a:endParaRPr lang="en-US" sz="1100" dirty="0"/>
          </a:p>
          <a:p>
            <a:pPr indent="0" marL="0">
              <a:buNone/>
            </a:pPr>
            <a:r>
              <a:rPr lang="en-US" sz="1150" b="1" dirty="0">
                <a:solidFill>
                  <a:schemeClr val="tx2"/>
                </a:solidFill>
              </a:rPr>
              <a:t>Eastbound drivers at 50 km/h now meet green at every junction; westbound drivers get whatever is left.</a:t>
            </a:r>
            <a:endParaRPr lang="en-US" sz="1100" dirty="0"/>
          </a:p>
        </p:txBody>
      </p:sp>
      <p:pic>
        <p:nvPicPr>
          <p:cNvPr id="6" name="Image 0" descr="Strategic decisions on the SUMO corridor (Lab A1).">    </p:cNvPr>
          <p:cNvPicPr>
            <a:picLocks noChangeAspect="1"/>
          </p:cNvPicPr>
          <p:nvPr/>
        </p:nvPicPr>
        <p:blipFill>
          <a:blip r:embed="rId1"/>
          <a:stretch>
            <a:fillRect/>
          </a:stretch>
        </p:blipFill>
        <p:spPr>
          <a:xfrm>
            <a:off x="5449367" y="1792224"/>
            <a:ext cx="2542946" cy="2825496"/>
          </a:xfrm>
          <a:prstGeom prst="rect">
            <a:avLst/>
          </a:prstGeom>
        </p:spPr>
      </p:pic>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Offsets</a:t>
            </a:r>
            <a:endParaRPr lang="en-US" sz="2400" dirty="0"/>
          </a:p>
        </p:txBody>
      </p:sp>
      <p:pic>
        <p:nvPicPr>
          <p:cNvPr id="3" name="Image 0" descr="Mind map of Offsets and green waves">    </p:cNvPr>
          <p:cNvPicPr>
            <a:picLocks noChangeAspect="1"/>
          </p:cNvPicPr>
          <p:nvPr/>
        </p:nvPicPr>
        <p:blipFill>
          <a:blip r:embed="rId1"/>
          <a:stretch>
            <a:fillRect/>
          </a:stretch>
        </p:blipFill>
        <p:spPr>
          <a:xfrm>
            <a:off x="411480" y="930350"/>
            <a:ext cx="8321040" cy="2116940"/>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4: HARBOUR BRIDGE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Along the harbour bridge, giant flags pop up one after another, left to right, exactly as a speeding red car passes each one. A stern referee holds up five cards and needs four to agree before the flags may change direction.</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Offsets wrap round the cycle. A westbound offset of −21.6 s on an 80 s cycle is the same as +58.4 s. Forgetting 'mod C' gives negative start times that a controller cannot use.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7A4412"/>
                </a:solidFill>
              </a:rPr>
              <a:t>5  </a:t>
            </a:r>
            <a:pPr indent="0" marL="0">
              <a:buNone/>
            </a:pPr>
            <a:r>
              <a:rPr lang="en-US" sz="2400" b="1" dirty="0">
                <a:solidFill>
                  <a:schemeClr val="tx2"/>
                </a:solidFill>
              </a:rPr>
              <a:t>Marriage and divorce</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thermostat that turns heating on at 18 °C and off at 21 °C, not at the same temperature. The gap stops the boiler clicking on and off. SCATS uses a similar gap, plus three agreeing readings in a row.</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Married: shared larger cycle and clock</a:t>
            </a:r>
            <a:endParaRPr lang="en-US" sz="1600" dirty="0"/>
          </a:p>
          <a:p>
            <a:pPr marL="342900" indent="-342900">
              <a:spcAft>
                <a:spcPts val="800"/>
              </a:spcAft>
              <a:buSzPct val="100000"/>
              <a:buChar char="•"/>
            </a:pPr>
            <a:r>
              <a:rPr lang="en-US" sz="1600" dirty="0">
                <a:solidFill>
                  <a:schemeClr val="tx1"/>
                </a:solidFill>
              </a:rPr>
              <a:t>Marry at VK 18, divorce below 10</a:t>
            </a:r>
            <a:endParaRPr lang="en-US" sz="1600" dirty="0"/>
          </a:p>
          <a:p>
            <a:pPr marL="342900" indent="-342900">
              <a:spcAft>
                <a:spcPts val="800"/>
              </a:spcAft>
              <a:buSzPct val="100000"/>
              <a:buChar char="•"/>
            </a:pPr>
            <a:r>
              <a:rPr lang="en-US" sz="1600" dirty="0">
                <a:solidFill>
                  <a:schemeClr val="tx1"/>
                </a:solidFill>
              </a:rPr>
              <a:t>Three votes in a row to change</a:t>
            </a:r>
            <a:endParaRPr lang="en-US" sz="1600" dirty="0"/>
          </a:p>
          <a:p>
            <a:pPr marL="342900" indent="-342900">
              <a:spcAft>
                <a:spcPts val="800"/>
              </a:spcAft>
              <a:buSzPct val="100000"/>
              <a:buChar char="•"/>
            </a:pPr>
            <a:r>
              <a:rPr lang="en-US" sz="1600" dirty="0">
                <a:solidFill>
                  <a:schemeClr val="tx1"/>
                </a:solidFill>
              </a:rPr>
              <a:t>Hysteresis stops flip-flopping</a:t>
            </a:r>
            <a:endParaRPr lang="en-US" sz="1600" dirty="0"/>
          </a:p>
        </p:txBody>
      </p:sp>
      <p:sp>
        <p:nvSpPr>
          <p:cNvPr id="7" name="stat card"/>
          <p:cNvSpPr/>
          <p:nvPr/>
        </p:nvSpPr>
        <p:spPr>
          <a:xfrm>
            <a:off x="5806440" y="2240280"/>
            <a:ext cx="2926080" cy="2377440"/>
          </a:xfrm>
          <a:prstGeom prst="roundRect">
            <a:avLst>
              <a:gd name="adj" fmla="val 3077"/>
            </a:avLst>
          </a:prstGeom>
          <a:solidFill>
            <a:srgbClr val="7A4412"/>
          </a:solidFill>
          <a:ln w="12700">
            <a:solidFill>
              <a:srgbClr val="7A4412"/>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18 / 10</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link VK to marry / to divorce</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Tracing link VK cycle by cycle</a:t>
            </a:r>
            <a:endParaRPr lang="en-US" sz="2400" dirty="0"/>
          </a:p>
        </p:txBody>
      </p:sp>
      <p:sp>
        <p:nvSpPr>
          <p:cNvPr id="3" name="formula band"/>
          <p:cNvSpPr/>
          <p:nvPr/>
        </p:nvSpPr>
        <p:spPr>
          <a:xfrm>
            <a:off x="411480" y="896112"/>
            <a:ext cx="8321040" cy="786384"/>
          </a:xfrm>
          <a:prstGeom prst="roundRect">
            <a:avLst>
              <a:gd name="adj" fmla="val 9302"/>
            </a:avLst>
          </a:prstGeom>
          <a:solidFill>
            <a:srgbClr val="EEF2F6"/>
          </a:solidFill>
          <a:ln w="12700">
            <a:solidFill>
              <a:srgbClr val="EEF2F6"/>
            </a:solidFill>
            <a:prstDash val="solid"/>
          </a:ln>
        </p:spPr>
      </p:sp>
      <p:sp>
        <p:nvSpPr>
          <p:cNvPr id="4" name="Text 2"/>
          <p:cNvSpPr txBox="1"/>
          <p:nvPr/>
        </p:nvSpPr>
        <p:spPr>
          <a:xfrm>
            <a:off x="548640" y="896112"/>
            <a:ext cx="8046720" cy="786384"/>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marry if VK ≥ 18 (and |C</a:t>
            </a:r>
            <a:pPr algn="ctr" indent="0" marL="0">
              <a:buNone/>
            </a:pPr>
            <a:r>
              <a:rPr lang="en-US" sz="1350" baseline="-40000" dirty="0">
                <a:solidFill>
                  <a:schemeClr val="tx2"/>
                </a:solidFill>
                <a:latin typeface="Cambria" pitchFamily="34" charset="0"/>
                <a:ea typeface="Cambria" pitchFamily="34" charset="-122"/>
                <a:cs typeface="Cambria" pitchFamily="34" charset="-120"/>
              </a:rPr>
              <a:t>A</a:t>
            </a:r>
            <a:pPr algn="ctr" indent="0" marL="0">
              <a:buNone/>
            </a:pPr>
            <a:r>
              <a:rPr lang="en-US" sz="1350" dirty="0">
                <a:solidFill>
                  <a:schemeClr val="tx2"/>
                </a:solidFill>
                <a:latin typeface="Cambria" pitchFamily="34" charset="0"/>
                <a:ea typeface="Cambria" pitchFamily="34" charset="-122"/>
                <a:cs typeface="Cambria" pitchFamily="34" charset="-120"/>
              </a:rPr>
              <a:t> − C</a:t>
            </a:r>
            <a:pPr algn="ctr" indent="0" marL="0">
              <a:buNone/>
            </a:pPr>
            <a:r>
              <a:rPr lang="en-US" sz="1350" baseline="-40000" dirty="0">
                <a:solidFill>
                  <a:schemeClr val="tx2"/>
                </a:solidFill>
                <a:latin typeface="Cambria" pitchFamily="34" charset="0"/>
                <a:ea typeface="Cambria" pitchFamily="34" charset="-122"/>
                <a:cs typeface="Cambria" pitchFamily="34" charset="-120"/>
              </a:rPr>
              <a:t>B</a:t>
            </a:r>
            <a:pPr algn="ctr" indent="0" marL="0">
              <a:buNone/>
            </a:pPr>
            <a:r>
              <a:rPr lang="en-US" sz="1350" dirty="0">
                <a:solidFill>
                  <a:schemeClr val="tx2"/>
                </a:solidFill>
                <a:latin typeface="Cambria" pitchFamily="34" charset="0"/>
                <a:ea typeface="Cambria" pitchFamily="34" charset="-122"/>
                <a:cs typeface="Cambria" pitchFamily="34" charset="-120"/>
              </a:rPr>
              <a:t>| ≤ 25 s) for 3 cycles in a row</a:t>
            </a:r>
            <a:endParaRPr lang="en-US" sz="1350" dirty="0"/>
          </a:p>
          <a:p>
            <a:pPr algn="ctr" indent="0" marL="0">
              <a:buNone/>
            </a:pPr>
            <a:r>
              <a:rPr lang="en-US" sz="1350" dirty="0">
                <a:solidFill>
                  <a:schemeClr val="tx2"/>
                </a:solidFill>
                <a:latin typeface="Cambria" pitchFamily="34" charset="0"/>
                <a:ea typeface="Cambria" pitchFamily="34" charset="-122"/>
                <a:cs typeface="Cambria" pitchFamily="34" charset="-120"/>
              </a:rPr>
              <a:t>divorce if VK &lt; 10 for 3 cycles in a row</a:t>
            </a:r>
            <a:endParaRPr lang="en-US" sz="1350" dirty="0"/>
          </a:p>
        </p:txBody>
      </p:sp>
      <p:sp>
        <p:nvSpPr>
          <p:cNvPr id="5" name="Text 3"/>
          <p:cNvSpPr txBox="1"/>
          <p:nvPr/>
        </p:nvSpPr>
        <p:spPr>
          <a:xfrm>
            <a:off x="411480" y="1792224"/>
            <a:ext cx="4160520" cy="2916936"/>
          </a:xfrm>
          <a:prstGeom prst="rect">
            <a:avLst/>
          </a:prstGeom>
          <a:noFill/>
          <a:ln/>
        </p:spPr>
        <p:txBody>
          <a:bodyPr wrap="square" lIns="254" tIns="254" rIns="254" bIns="254" rtlCol="0" anchor="t"/>
          <a:lstStyle/>
          <a:p>
            <a:pPr indent="0" marL="0">
              <a:buNone/>
            </a:pPr>
            <a:r>
              <a:rPr lang="en-US" sz="1100" i="1" dirty="0">
                <a:solidFill>
                  <a:srgbClr val="444444"/>
                </a:solidFill>
              </a:rPr>
              <a:t>Divorced subsystems with cycles 80 s and 90 s. Link VK per cycle: 12, 15, 19, 20, 17, 21, 22, 23, 16, 12, 9, 11, 8, 7, 6.</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Cycles 3-4 (19, 20) vote 'marry'; cycle 5 (17) breaks the run, count back to 0.</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Cycles 6, 7, 8 (21, 22, 23): three in a row. </a:t>
            </a:r>
            <a:pPr indent="0" marL="0">
              <a:buNone/>
            </a:pPr>
            <a:r>
              <a:rPr lang="en-US" sz="1150" b="1" dirty="0">
                <a:solidFill>
                  <a:srgbClr val="000000"/>
                </a:solidFill>
              </a:rPr>
              <a:t>Married at cycle 8</a:t>
            </a:r>
            <a:pPr indent="0" marL="0">
              <a:buNone/>
            </a:pPr>
            <a:r>
              <a:rPr lang="en-US" sz="1150" dirty="0">
                <a:solidFill>
                  <a:srgbClr val="000000"/>
                </a:solidFill>
              </a:rPr>
              <a:t>, common cycle 90 s.</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Cycles 9-10 (16, 12) are above 10: stay married.</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Cycle 11 (9) votes 'divorce'; cycle 12 (11) breaks the run.</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Cycles 13, 14, 15 (8, 7, 6): three in a row. </a:t>
            </a:r>
            <a:pPr indent="0" marL="0">
              <a:buNone/>
            </a:pPr>
            <a:r>
              <a:rPr lang="en-US" sz="1150" b="1" dirty="0">
                <a:solidFill>
                  <a:srgbClr val="000000"/>
                </a:solidFill>
              </a:rPr>
              <a:t>Divorced at cycle 15</a:t>
            </a:r>
            <a:pPr indent="0" marL="0">
              <a:buNone/>
            </a:pPr>
            <a:r>
              <a:rPr lang="en-US" sz="1150" dirty="0">
                <a:solidFill>
                  <a:srgbClr val="000000"/>
                </a:solidFill>
              </a:rPr>
              <a:t>.</a:t>
            </a:r>
            <a:endParaRPr lang="en-US" sz="1100" dirty="0"/>
          </a:p>
          <a:p>
            <a:pPr indent="0" marL="0">
              <a:buNone/>
            </a:pPr>
            <a:r>
              <a:rPr lang="en-US" sz="1150" b="1" dirty="0">
                <a:solidFill>
                  <a:schemeClr val="tx2"/>
                </a:solidFill>
              </a:rPr>
              <a:t>Two state changes in fifteen noisy cycles, instead of the many flips a single threshold would give.</a:t>
            </a:r>
            <a:endParaRPr lang="en-US" sz="1100" dirty="0"/>
          </a:p>
        </p:txBody>
      </p:sp>
      <p:graphicFrame>
        <p:nvGraphicFramePr>
          <p:cNvPr id="6" name="Chart 0" descr=""/>
          <p:cNvGraphicFramePr/>
          <p:nvPr/>
        </p:nvGraphicFramePr>
        <p:xfrm>
          <a:off x="4709160" y="1792224"/>
          <a:ext cx="4023360" cy="2871216"/>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Marriage</a:t>
            </a:r>
            <a:endParaRPr lang="en-US" sz="2400" dirty="0"/>
          </a:p>
        </p:txBody>
      </p:sp>
      <p:pic>
        <p:nvPicPr>
          <p:cNvPr id="3" name="Image 0" descr="Mind map of Marriage and divorce">    </p:cNvPr>
          <p:cNvPicPr>
            <a:picLocks noChangeAspect="1"/>
          </p:cNvPicPr>
          <p:nvPr/>
        </p:nvPicPr>
        <p:blipFill>
          <a:blip r:embed="rId1"/>
          <a:stretch>
            <a:fillRect/>
          </a:stretch>
        </p:blipFill>
        <p:spPr>
          <a:xfrm>
            <a:off x="411480" y="957895"/>
            <a:ext cx="8321040" cy="2061851"/>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5: WEDDING CHAPEL</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On the rocks above the harbour, two ferries get married in a tiny chapel. The priest needs 18 roses to start the wedding but only takes the rings back if fewer than 10 remain, and three bells must ring in a row each time. The couple share the bigger of their two clocks.</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Married subsystems do not average their cycles; they both take the larger one, so the busier subsystem is not starved. That is also the cost of marriage: the quieter one runs a longer cycle than it needs.</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5A2F38"/>
                </a:solidFill>
              </a:rPr>
              <a:t>6  </a:t>
            </a:r>
            <a:pPr indent="0" marL="0">
              <a:buNone/>
            </a:pPr>
            <a:r>
              <a:rPr lang="en-US" sz="2400" b="1" dirty="0">
                <a:solidFill>
                  <a:schemeClr val="tx2"/>
                </a:solidFill>
              </a:rPr>
              <a:t>Tactical control: gap-out, skipping, holding</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 lift door: it stays open while people keep walking in, and closes once nobody has come through for a few seconds. If nobody pressed the button on a floor, the lift does not stop there at all.</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Gap timer ends a green early</a:t>
            </a:r>
            <a:endParaRPr lang="en-US" sz="1600" dirty="0"/>
          </a:p>
          <a:p>
            <a:pPr marL="342900" indent="-342900">
              <a:spcAft>
                <a:spcPts val="800"/>
              </a:spcAft>
              <a:buSzPct val="100000"/>
              <a:buChar char="•"/>
            </a:pPr>
            <a:r>
              <a:rPr lang="en-US" sz="1600" dirty="0">
                <a:solidFill>
                  <a:schemeClr val="tx1"/>
                </a:solidFill>
              </a:rPr>
              <a:t>Never before the minimum green</a:t>
            </a:r>
            <a:endParaRPr lang="en-US" sz="1600" dirty="0"/>
          </a:p>
          <a:p>
            <a:pPr marL="342900" indent="-342900">
              <a:spcAft>
                <a:spcPts val="800"/>
              </a:spcAft>
              <a:buSzPct val="100000"/>
              <a:buChar char="•"/>
            </a:pPr>
            <a:r>
              <a:rPr lang="en-US" sz="1600" dirty="0">
                <a:solidFill>
                  <a:schemeClr val="tx1"/>
                </a:solidFill>
              </a:rPr>
              <a:t>Empty phases are skipped</a:t>
            </a:r>
            <a:endParaRPr lang="en-US" sz="1600" dirty="0"/>
          </a:p>
          <a:p>
            <a:pPr marL="342900" indent="-342900">
              <a:spcAft>
                <a:spcPts val="800"/>
              </a:spcAft>
              <a:buSzPct val="100000"/>
              <a:buChar char="•"/>
            </a:pPr>
            <a:r>
              <a:rPr lang="en-US" sz="1600" dirty="0">
                <a:solidFill>
                  <a:schemeClr val="tx1"/>
                </a:solidFill>
              </a:rPr>
              <a:t>Main road held to keep the wave</a:t>
            </a:r>
            <a:endParaRPr lang="en-US" sz="1600" dirty="0"/>
          </a:p>
        </p:txBody>
      </p:sp>
      <p:sp>
        <p:nvSpPr>
          <p:cNvPr id="7" name="stat card"/>
          <p:cNvSpPr/>
          <p:nvPr/>
        </p:nvSpPr>
        <p:spPr>
          <a:xfrm>
            <a:off x="5806440" y="2240280"/>
            <a:ext cx="2926080" cy="2377440"/>
          </a:xfrm>
          <a:prstGeom prst="roundRect">
            <a:avLst>
              <a:gd name="adj" fmla="val 3077"/>
            </a:avLst>
          </a:prstGeom>
          <a:solidFill>
            <a:srgbClr val="5A2F38"/>
          </a:solidFill>
          <a:ln w="12700">
            <a:solidFill>
              <a:srgbClr val="5A2F38"/>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62.0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corridor delay with tactical control off (36.9 s on)</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Does this side-road green gap out?</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2F6"/>
          </a:solidFill>
          <a:ln w="12700">
            <a:solidFill>
              <a:srgbClr val="EEF2F6"/>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end green when t ≥ g</a:t>
            </a:r>
            <a:pPr algn="ctr" indent="0" marL="0">
              <a:buNone/>
            </a:pPr>
            <a:r>
              <a:rPr lang="en-US" sz="1350" baseline="-40000" dirty="0">
                <a:solidFill>
                  <a:schemeClr val="tx2"/>
                </a:solidFill>
                <a:latin typeface="Cambria" pitchFamily="34" charset="0"/>
                <a:ea typeface="Cambria" pitchFamily="34" charset="-122"/>
                <a:cs typeface="Cambria" pitchFamily="34" charset="-120"/>
              </a:rPr>
              <a:t>min</a:t>
            </a:r>
            <a:pPr algn="ctr" indent="0" marL="0">
              <a:buNone/>
            </a:pPr>
            <a:r>
              <a:rPr lang="en-US" sz="1350" dirty="0">
                <a:solidFill>
                  <a:schemeClr val="tx2"/>
                </a:solidFill>
                <a:latin typeface="Cambria" pitchFamily="34" charset="0"/>
                <a:ea typeface="Cambria" pitchFamily="34" charset="-122"/>
                <a:cs typeface="Cambria" pitchFamily="34" charset="-120"/>
              </a:rPr>
              <a:t> and (t − last vehicle) ≥ gap setting</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Planned green 25 s, minimum green 8 s, gap setting 3 s. Vehicles cross the loop at 1.0, 2.5, 4.0 and 5.5 s, then the next one would come at 9.5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Before 8 s the green cannot end (minimum green).</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At 8.0 s the gap since the last car (5.5 s) is 2.5 s, below 3 s: keep going.</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At 8.5 s the gap is 3.0 s: </a:t>
            </a:r>
            <a:pPr indent="0" marL="0">
              <a:buNone/>
            </a:pPr>
            <a:r>
              <a:rPr lang="en-US" sz="1150" b="1" dirty="0">
                <a:solidFill>
                  <a:srgbClr val="000000"/>
                </a:solidFill>
              </a:rPr>
              <a:t>gap-out</a:t>
            </a:r>
            <a:pPr indent="0" marL="0">
              <a:buNone/>
            </a:pPr>
            <a:r>
              <a:rPr lang="en-US" sz="1150" dirty="0">
                <a:solidFill>
                  <a:srgbClr val="000000"/>
                </a:solidFill>
              </a:rPr>
              <a:t>. The green ends at 8.5 s.</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Unused time: 25 − 8.5 = </a:t>
            </a:r>
            <a:pPr indent="0" marL="0">
              <a:buNone/>
            </a:pPr>
            <a:r>
              <a:rPr lang="en-US" sz="1150" b="1" dirty="0">
                <a:solidFill>
                  <a:srgbClr val="000000"/>
                </a:solidFill>
              </a:rPr>
              <a:t>16.5 s</a:t>
            </a:r>
            <a:pPr indent="0" marL="0">
              <a:buNone/>
            </a:pPr>
            <a:r>
              <a:rPr lang="en-US" sz="1150" dirty="0">
                <a:solidFill>
                  <a:srgbClr val="000000"/>
                </a:solidFill>
              </a:rPr>
              <a:t>, passed on to the next phase.</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The car arriving at 9.5 s waits for the next cycle.</a:t>
            </a:r>
            <a:endParaRPr lang="en-US" sz="1100" dirty="0"/>
          </a:p>
          <a:p>
            <a:pPr indent="0" marL="0">
              <a:buNone/>
            </a:pPr>
            <a:r>
              <a:rPr lang="en-US" sz="1150" b="1" dirty="0">
                <a:solidFill>
                  <a:schemeClr val="tx2"/>
                </a:solidFill>
              </a:rPr>
              <a:t>Instead of 16.5 s of empty green, the main road gets that time. This is why switching off tactical control hurt most in the SUMO ablation.</a:t>
            </a:r>
            <a:endParaRPr lang="en-US" sz="1100" dirty="0"/>
          </a:p>
        </p:txBody>
      </p:sp>
      <p:graphicFrame>
        <p:nvGraphicFramePr>
          <p:cNvPr id="6" name="Chart 0" descr=""/>
          <p:cNvGraphicFramePr/>
          <p:nvPr/>
        </p:nvGraphicFramePr>
        <p:xfrm>
          <a:off x="4709160" y="1444752"/>
          <a:ext cx="4023360" cy="321868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Tactical control</a:t>
            </a:r>
            <a:endParaRPr lang="en-US" sz="2400" dirty="0"/>
          </a:p>
        </p:txBody>
      </p:sp>
      <p:pic>
        <p:nvPicPr>
          <p:cNvPr id="3" name="Image 0" descr="Mind map of Tactical control: gap-out, skipping, holding">    </p:cNvPr>
          <p:cNvPicPr>
            <a:picLocks noChangeAspect="1"/>
          </p:cNvPicPr>
          <p:nvPr/>
        </p:nvPicPr>
        <p:blipFill>
          <a:blip r:embed="rId1"/>
          <a:stretch>
            <a:fillRect/>
          </a:stretch>
        </p:blipFill>
        <p:spPr>
          <a:xfrm>
            <a:off x="411480" y="1285786"/>
            <a:ext cx="8321040" cy="1406068"/>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6: LIGHTHOUSE</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In the lighthouse, a lift door stays open while tourists stream in, then slams after three silent seconds, but never before an eight-second bell. The lift skips floors where nobody pressed a button. On the main-road floor a guard props the door open with a giant anchor.</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Gap-out does not apply to every phase. The coordinated main-road phase is held so the green wave survives, and no phase can gap out before its minimum green.</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3F3266"/>
                </a:solidFill>
              </a:rPr>
              <a:t>7  </a:t>
            </a:r>
            <a:pPr indent="0" marL="0">
              <a:buNone/>
            </a:pPr>
            <a:r>
              <a:rPr lang="en-US" sz="2400" b="1" dirty="0">
                <a:solidFill>
                  <a:schemeClr val="tx2"/>
                </a:solidFill>
              </a:rPr>
              <a:t>Public transport priority</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At a busy shop counter, a customer in a wheelchair (high priority) is served next, someone with one item may be squeezed in early (medium), and everyone else waits their turn (low).</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High: hurry call, serve at once</a:t>
            </a:r>
            <a:endParaRPr lang="en-US" sz="1600" dirty="0"/>
          </a:p>
          <a:p>
            <a:pPr marL="342900" indent="-342900">
              <a:spcAft>
                <a:spcPts val="800"/>
              </a:spcAft>
              <a:buSzPct val="100000"/>
              <a:buChar char="•"/>
            </a:pPr>
            <a:r>
              <a:rPr lang="en-US" sz="1600" dirty="0">
                <a:solidFill>
                  <a:schemeClr val="tx1"/>
                </a:solidFill>
              </a:rPr>
              <a:t>Medium: extend or start early</a:t>
            </a:r>
            <a:endParaRPr lang="en-US" sz="1600" dirty="0"/>
          </a:p>
          <a:p>
            <a:pPr marL="342900" indent="-342900">
              <a:spcAft>
                <a:spcPts val="800"/>
              </a:spcAft>
              <a:buSzPct val="100000"/>
              <a:buChar char="•"/>
            </a:pPr>
            <a:r>
              <a:rPr lang="en-US" sz="1600" dirty="0">
                <a:solidFill>
                  <a:schemeClr val="tx1"/>
                </a:solidFill>
              </a:rPr>
              <a:t>Low: wait in normal sequence</a:t>
            </a:r>
            <a:endParaRPr lang="en-US" sz="1600" dirty="0"/>
          </a:p>
          <a:p>
            <a:pPr marL="342900" indent="-342900">
              <a:spcAft>
                <a:spcPts val="800"/>
              </a:spcAft>
              <a:buSzPct val="100000"/>
              <a:buChar char="•"/>
            </a:pPr>
            <a:r>
              <a:rPr lang="en-US" sz="1600" dirty="0">
                <a:solidFill>
                  <a:schemeClr val="tx1"/>
                </a:solidFill>
              </a:rPr>
              <a:t>Every priority second costs someone</a:t>
            </a:r>
            <a:endParaRPr lang="en-US" sz="1600" dirty="0"/>
          </a:p>
        </p:txBody>
      </p:sp>
      <p:sp>
        <p:nvSpPr>
          <p:cNvPr id="7" name="stat card"/>
          <p:cNvSpPr/>
          <p:nvPr/>
        </p:nvSpPr>
        <p:spPr>
          <a:xfrm>
            <a:off x="5806440" y="2240280"/>
            <a:ext cx="2926080" cy="2377440"/>
          </a:xfrm>
          <a:prstGeom prst="roundRect">
            <a:avLst>
              <a:gd name="adj" fmla="val 3077"/>
            </a:avLst>
          </a:prstGeom>
          <a:solidFill>
            <a:srgbClr val="3F3266"/>
          </a:solidFill>
          <a:ln w="12700">
            <a:solidFill>
              <a:srgbClr val="3F3266"/>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29.7 s</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SCATS bus delay in Lab A1 (fixed 110.8 s)</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A bus that just missed its green</a:t>
            </a:r>
            <a:endParaRPr lang="en-US" sz="2400" dirty="0"/>
          </a:p>
        </p:txBody>
      </p:sp>
      <p:sp>
        <p:nvSpPr>
          <p:cNvPr id="3" name="Text 1"/>
          <p:cNvSpPr txBox="1"/>
          <p:nvPr/>
        </p:nvSpPr>
        <p:spPr>
          <a:xfrm>
            <a:off x="411480" y="896112"/>
            <a:ext cx="4160520" cy="3813048"/>
          </a:xfrm>
          <a:prstGeom prst="rect">
            <a:avLst/>
          </a:prstGeom>
          <a:noFill/>
          <a:ln/>
        </p:spPr>
        <p:txBody>
          <a:bodyPr wrap="square" lIns="254" tIns="254" rIns="254" bIns="254" rtlCol="0" anchor="t"/>
          <a:lstStyle/>
          <a:p>
            <a:pPr indent="0" marL="0">
              <a:buNone/>
            </a:pPr>
            <a:r>
              <a:rPr lang="en-US" sz="1100" i="1" dirty="0">
                <a:solidFill>
                  <a:srgbClr val="444444"/>
                </a:solidFill>
              </a:rPr>
              <a:t>Cycle 80 s: phase A (bus) green 0-40 s, intergreen 5 s, phase B green 45-75 s, intergreen 5 s. The bus arrives at 42 s. Phase B has a 10 s minimum green.</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a:t>
            </a:r>
            <a:pPr indent="0" marL="0">
              <a:buNone/>
            </a:pPr>
            <a:r>
              <a:rPr lang="en-US" sz="1150" b="1" dirty="0">
                <a:solidFill>
                  <a:srgbClr val="000000"/>
                </a:solidFill>
              </a:rPr>
              <a:t>Low:</a:t>
            </a:r>
            <a:pPr indent="0" marL="0">
              <a:buNone/>
            </a:pPr>
            <a:r>
              <a:rPr lang="en-US" sz="1150" dirty="0">
                <a:solidFill>
                  <a:srgbClr val="000000"/>
                </a:solidFill>
              </a:rPr>
              <a:t> wait for the next A green at 80 s. Delay = 80 − 42 = </a:t>
            </a:r>
            <a:pPr indent="0" marL="0">
              <a:buNone/>
            </a:pPr>
            <a:r>
              <a:rPr lang="en-US" sz="1150" b="1" dirty="0">
                <a:solidFill>
                  <a:srgbClr val="000000"/>
                </a:solidFill>
              </a:rPr>
              <a:t>38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a:t>
            </a:r>
            <a:pPr indent="0" marL="0">
              <a:buNone/>
            </a:pPr>
            <a:r>
              <a:rPr lang="en-US" sz="1150" b="1" dirty="0">
                <a:solidFill>
                  <a:srgbClr val="000000"/>
                </a:solidFill>
              </a:rPr>
              <a:t>Medium:</a:t>
            </a:r>
            <a:pPr indent="0" marL="0">
              <a:buNone/>
            </a:pPr>
            <a:r>
              <a:rPr lang="en-US" sz="1150" dirty="0">
                <a:solidFill>
                  <a:srgbClr val="000000"/>
                </a:solidFill>
              </a:rPr>
              <a:t> cut B to its 10 s minimum: B ends at 55 s, intergreen to 60 s. Delay = 60 − 42 = </a:t>
            </a:r>
            <a:pPr indent="0" marL="0">
              <a:buNone/>
            </a:pPr>
            <a:r>
              <a:rPr lang="en-US" sz="1150" b="1" dirty="0">
                <a:solidFill>
                  <a:srgbClr val="000000"/>
                </a:solidFill>
              </a:rPr>
              <a:t>18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a:t>
            </a:r>
            <a:pPr indent="0" marL="0">
              <a:buNone/>
            </a:pPr>
            <a:r>
              <a:rPr lang="en-US" sz="1150" b="1" dirty="0">
                <a:solidFill>
                  <a:srgbClr val="000000"/>
                </a:solidFill>
              </a:rPr>
              <a:t>High:</a:t>
            </a:r>
            <a:pPr indent="0" marL="0">
              <a:buNone/>
            </a:pPr>
            <a:r>
              <a:rPr lang="en-US" sz="1150" dirty="0">
                <a:solidFill>
                  <a:srgbClr val="000000"/>
                </a:solidFill>
              </a:rPr>
              <a:t> skip B entirely; A returns after the intergreen at 45 s. Delay = 45 − 42 = </a:t>
            </a:r>
            <a:pPr indent="0" marL="0">
              <a:buNone/>
            </a:pPr>
            <a:r>
              <a:rPr lang="en-US" sz="1150" b="1" dirty="0">
                <a:solidFill>
                  <a:srgbClr val="000000"/>
                </a:solidFill>
              </a:rPr>
              <a:t>3 s</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Cost: medium takes 20 s from B; high takes all 30 s.</a:t>
            </a:r>
            <a:endParaRPr lang="en-US" sz="1100" dirty="0"/>
          </a:p>
          <a:p>
            <a:pPr indent="0" marL="0">
              <a:buNone/>
            </a:pPr>
            <a:r>
              <a:rPr lang="en-US" sz="1150" b="1" dirty="0">
                <a:solidFill>
                  <a:schemeClr val="tx2"/>
                </a:solidFill>
              </a:rPr>
              <a:t>Higher priority saves the bus more time but costs the side road more. That is why buses usually get medium, not high.</a:t>
            </a:r>
            <a:endParaRPr lang="en-US" sz="1100" dirty="0"/>
          </a:p>
        </p:txBody>
      </p:sp>
      <p:graphicFrame>
        <p:nvGraphicFramePr>
          <p:cNvPr id="4" name="Chart 0" descr=""/>
          <p:cNvGraphicFramePr/>
          <p:nvPr/>
        </p:nvGraphicFramePr>
        <p:xfrm>
          <a:off x="4709160" y="896112"/>
          <a:ext cx="4023360" cy="376732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Bus priority</a:t>
            </a:r>
            <a:endParaRPr lang="en-US" sz="2400" dirty="0"/>
          </a:p>
        </p:txBody>
      </p:sp>
      <p:pic>
        <p:nvPicPr>
          <p:cNvPr id="3" name="Image 0" descr="Mind map of Public transport priority">    </p:cNvPr>
          <p:cNvPicPr>
            <a:picLocks noChangeAspect="1"/>
          </p:cNvPicPr>
          <p:nvPr/>
        </p:nvPicPr>
        <p:blipFill>
          <a:blip r:embed="rId1"/>
          <a:stretch>
            <a:fillRect/>
          </a:stretch>
        </p:blipFill>
        <p:spPr>
          <a:xfrm>
            <a:off x="411480" y="1219084"/>
            <a:ext cx="8321040" cy="1539471"/>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7: TRAM STOP</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At the tram stop three vehicles queue for a magic gate. A fire-red tram blasts a hurry horn and the gate flies open at once. A yellow bus waves a ticket and the gate swings early. A grey van just waits its turn, tapping the wheel.</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Priority is not free. In the ablation, switching bus priority off raised bus delay from 29.7 to 46.4 s but also raised mean delay for everyone from 36.9 to 42.5 s here, because buses ran on the main road with the green wave. On another corridor, aggressive priority can raise general delay instead.</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rgbClr val="4A4A5A"/>
                </a:solidFill>
              </a:rPr>
              <a:t>8  </a:t>
            </a:r>
            <a:pPr indent="0" marL="0">
              <a:buNone/>
            </a:pPr>
            <a:r>
              <a:rPr lang="en-US" sz="2400" b="1" dirty="0">
                <a:solidFill>
                  <a:schemeClr val="tx2"/>
                </a:solidFill>
              </a:rPr>
              <a:t>Operating modes and the full system on SUMO</a:t>
            </a:r>
            <a:endParaRPr lang="en-US" sz="2400" dirty="0"/>
          </a:p>
        </p:txBody>
      </p:sp>
      <p:sp>
        <p:nvSpPr>
          <p:cNvPr id="3" name="plain words"/>
          <p:cNvSpPr/>
          <p:nvPr/>
        </p:nvSpPr>
        <p:spPr>
          <a:xfrm>
            <a:off x="411480" y="914400"/>
            <a:ext cx="8321040" cy="1097280"/>
          </a:xfrm>
          <a:prstGeom prst="roundRect">
            <a:avLst>
              <a:gd name="adj" fmla="val 6667"/>
            </a:avLst>
          </a:prstGeom>
          <a:solidFill>
            <a:srgbClr val="EEF6EE"/>
          </a:solidFill>
          <a:ln w="12700">
            <a:solidFill>
              <a:srgbClr val="EEF6EE"/>
            </a:solidFill>
            <a:prstDash val="solid"/>
          </a:ln>
        </p:spPr>
      </p:sp>
      <p:sp>
        <p:nvSpPr>
          <p:cNvPr id="4" name="Text 2"/>
          <p:cNvSpPr txBox="1"/>
          <p:nvPr/>
        </p:nvSpPr>
        <p:spPr>
          <a:xfrm>
            <a:off x="594360" y="969264"/>
            <a:ext cx="2743200" cy="256032"/>
          </a:xfrm>
          <a:prstGeom prst="rect">
            <a:avLst/>
          </a:prstGeom>
          <a:noFill/>
          <a:ln/>
        </p:spPr>
        <p:txBody>
          <a:bodyPr wrap="square" lIns="0" tIns="0" rIns="0" bIns="0" rtlCol="0" anchor="ctr"/>
          <a:lstStyle/>
          <a:p>
            <a:pPr indent="0" marL="0">
              <a:buNone/>
            </a:pPr>
            <a:r>
              <a:rPr lang="en-US" sz="950" b="1" spc="200" kern="0" dirty="0">
                <a:solidFill>
                  <a:srgbClr val="2F5A1C"/>
                </a:solidFill>
              </a:rPr>
              <a:t>IN PLAIN WORDS</a:t>
            </a:r>
            <a:endParaRPr lang="en-US" sz="950" dirty="0"/>
          </a:p>
        </p:txBody>
      </p:sp>
      <p:sp>
        <p:nvSpPr>
          <p:cNvPr id="5" name="Text 3"/>
          <p:cNvSpPr txBox="1"/>
          <p:nvPr/>
        </p:nvSpPr>
        <p:spPr>
          <a:xfrm>
            <a:off x="594360" y="1207008"/>
            <a:ext cx="7955280" cy="777240"/>
          </a:xfrm>
          <a:prstGeom prst="rect">
            <a:avLst/>
          </a:prstGeom>
          <a:noFill/>
          <a:ln/>
        </p:spPr>
        <p:txBody>
          <a:bodyPr wrap="square" lIns="0" tIns="0" rIns="0" bIns="0" rtlCol="0" anchor="t"/>
          <a:lstStyle/>
          <a:p>
            <a:pPr indent="0" marL="0">
              <a:buNone/>
            </a:pPr>
            <a:r>
              <a:rPr lang="en-US" sz="1200" dirty="0">
                <a:solidFill>
                  <a:schemeClr val="tx1"/>
                </a:solidFill>
              </a:rPr>
              <a:t>An orchestra with a conductor (Masterlink); the same orchestra following printed sheet music and a shared metronome when the conductor leaves (Flexilink); musicians each playing by ear alone (Isolated).</a:t>
            </a:r>
            <a:endParaRPr lang="en-US" sz="1200" dirty="0"/>
          </a:p>
        </p:txBody>
      </p:sp>
      <p:sp>
        <p:nvSpPr>
          <p:cNvPr id="6" name="Text 4"/>
          <p:cNvSpPr txBox="1"/>
          <p:nvPr/>
        </p:nvSpPr>
        <p:spPr>
          <a:xfrm>
            <a:off x="411480" y="2194560"/>
            <a:ext cx="5120640" cy="25146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Masterlink, Flexilink, Isolated, flashing</a:t>
            </a:r>
            <a:endParaRPr lang="en-US" sz="1600" dirty="0"/>
          </a:p>
          <a:p>
            <a:pPr marL="342900" indent="-342900">
              <a:spcAft>
                <a:spcPts val="800"/>
              </a:spcAft>
              <a:buSzPct val="100000"/>
              <a:buChar char="•"/>
            </a:pPr>
            <a:r>
              <a:rPr lang="en-US" sz="1600" dirty="0">
                <a:solidFill>
                  <a:schemeClr val="tx1"/>
                </a:solidFill>
              </a:rPr>
              <a:t>Lab A1: 77.2 vs 40.9 vs 36.9 s</a:t>
            </a:r>
            <a:endParaRPr lang="en-US" sz="1600" dirty="0"/>
          </a:p>
          <a:p>
            <a:pPr marL="342900" indent="-342900">
              <a:spcAft>
                <a:spcPts val="800"/>
              </a:spcAft>
              <a:buSzPct val="100000"/>
              <a:buChar char="•"/>
            </a:pPr>
            <a:r>
              <a:rPr lang="en-US" sz="1600" dirty="0">
                <a:solidFill>
                  <a:schemeClr val="tx1"/>
                </a:solidFill>
              </a:rPr>
              <a:t>Tactical control matters most here</a:t>
            </a:r>
            <a:endParaRPr lang="en-US" sz="1600" dirty="0"/>
          </a:p>
          <a:p>
            <a:pPr marL="342900" indent="-342900">
              <a:spcAft>
                <a:spcPts val="800"/>
              </a:spcAft>
              <a:buSzPct val="100000"/>
              <a:buChar char="•"/>
            </a:pPr>
            <a:r>
              <a:rPr lang="en-US" sz="1600" dirty="0">
                <a:solidFill>
                  <a:schemeClr val="tx1"/>
                </a:solidFill>
              </a:rPr>
              <a:t>Ablation results depend on the corridor</a:t>
            </a:r>
            <a:endParaRPr lang="en-US" sz="1600" dirty="0"/>
          </a:p>
        </p:txBody>
      </p:sp>
      <p:sp>
        <p:nvSpPr>
          <p:cNvPr id="7" name="stat card"/>
          <p:cNvSpPr/>
          <p:nvPr/>
        </p:nvSpPr>
        <p:spPr>
          <a:xfrm>
            <a:off x="5806440" y="2240280"/>
            <a:ext cx="2926080" cy="2377440"/>
          </a:xfrm>
          <a:prstGeom prst="roundRect">
            <a:avLst>
              <a:gd name="adj" fmla="val 3077"/>
            </a:avLst>
          </a:prstGeom>
          <a:solidFill>
            <a:srgbClr val="4A4A5A"/>
          </a:solidFill>
          <a:ln w="12700">
            <a:solidFill>
              <a:srgbClr val="4A4A5A"/>
            </a:solidFill>
            <a:prstDash val="solid"/>
          </a:ln>
        </p:spPr>
      </p:sp>
      <p:sp>
        <p:nvSpPr>
          <p:cNvPr id="8" name="Text 6"/>
          <p:cNvSpPr txBox="1"/>
          <p:nvPr/>
        </p:nvSpPr>
        <p:spPr>
          <a:xfrm>
            <a:off x="5897880" y="2377440"/>
            <a:ext cx="2743200" cy="10972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−52%</a:t>
            </a:r>
            <a:endParaRPr lang="en-US" sz="4400" dirty="0"/>
          </a:p>
        </p:txBody>
      </p:sp>
      <p:sp>
        <p:nvSpPr>
          <p:cNvPr id="9" name="Text 7"/>
          <p:cNvSpPr txBox="1"/>
          <p:nvPr/>
        </p:nvSpPr>
        <p:spPr>
          <a:xfrm>
            <a:off x="5989320" y="3520440"/>
            <a:ext cx="2560320" cy="960120"/>
          </a:xfrm>
          <a:prstGeom prst="rect">
            <a:avLst/>
          </a:prstGeom>
          <a:noFill/>
          <a:ln/>
        </p:spPr>
        <p:txBody>
          <a:bodyPr wrap="square" lIns="0" tIns="0" rIns="0" bIns="0" rtlCol="0" anchor="t"/>
          <a:lstStyle/>
          <a:p>
            <a:pPr algn="ctr" indent="0" marL="0">
              <a:buNone/>
            </a:pPr>
            <a:r>
              <a:rPr lang="en-US" sz="1250" dirty="0">
                <a:solidFill>
                  <a:srgbClr val="FFFFFF"/>
                </a:solidFill>
              </a:rPr>
              <a:t>delay cut versus fixed time on the corridor</a:t>
            </a:r>
            <a:endParaRPr lang="en-US" sz="12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Worked example: Reading the ablation</a:t>
            </a:r>
            <a:endParaRPr lang="en-US" sz="2400" dirty="0"/>
          </a:p>
        </p:txBody>
      </p:sp>
      <p:sp>
        <p:nvSpPr>
          <p:cNvPr id="3" name="formula band"/>
          <p:cNvSpPr/>
          <p:nvPr/>
        </p:nvSpPr>
        <p:spPr>
          <a:xfrm>
            <a:off x="411480" y="896112"/>
            <a:ext cx="8321040" cy="438912"/>
          </a:xfrm>
          <a:prstGeom prst="roundRect">
            <a:avLst>
              <a:gd name="adj" fmla="val 16667"/>
            </a:avLst>
          </a:prstGeom>
          <a:solidFill>
            <a:srgbClr val="EEF2F6"/>
          </a:solidFill>
          <a:ln w="12700">
            <a:solidFill>
              <a:srgbClr val="EEF2F6"/>
            </a:solidFill>
            <a:prstDash val="solid"/>
          </a:ln>
        </p:spPr>
      </p:sp>
      <p:sp>
        <p:nvSpPr>
          <p:cNvPr id="4" name="Text 2"/>
          <p:cNvSpPr txBox="1"/>
          <p:nvPr/>
        </p:nvSpPr>
        <p:spPr>
          <a:xfrm>
            <a:off x="548640" y="896112"/>
            <a:ext cx="8046720" cy="438912"/>
          </a:xfrm>
          <a:prstGeom prst="rect">
            <a:avLst/>
          </a:prstGeom>
          <a:noFill/>
          <a:ln/>
        </p:spPr>
        <p:txBody>
          <a:bodyPr wrap="square" lIns="0" tIns="0" rIns="0" bIns="0" rtlCol="0" anchor="ctr"/>
          <a:lstStyle/>
          <a:p>
            <a:pPr algn="ctr" indent="0" marL="0">
              <a:buNone/>
            </a:pPr>
            <a:r>
              <a:rPr lang="en-US" sz="1350" dirty="0">
                <a:solidFill>
                  <a:schemeClr val="tx2"/>
                </a:solidFill>
                <a:latin typeface="Cambria" pitchFamily="34" charset="0"/>
                <a:ea typeface="Cambria" pitchFamily="34" charset="-122"/>
                <a:cs typeface="Cambria" pitchFamily="34" charset="-120"/>
              </a:rPr>
              <a:t>change = (delay without mechanism − delay with all) ÷ delay with all</a:t>
            </a:r>
            <a:endParaRPr lang="en-US" sz="1350" dirty="0"/>
          </a:p>
        </p:txBody>
      </p:sp>
      <p:sp>
        <p:nvSpPr>
          <p:cNvPr id="5" name="Text 3"/>
          <p:cNvSpPr txBox="1"/>
          <p:nvPr/>
        </p:nvSpPr>
        <p:spPr>
          <a:xfrm>
            <a:off x="411480" y="1444752"/>
            <a:ext cx="4160520" cy="3264408"/>
          </a:xfrm>
          <a:prstGeom prst="rect">
            <a:avLst/>
          </a:prstGeom>
          <a:noFill/>
          <a:ln/>
        </p:spPr>
        <p:txBody>
          <a:bodyPr wrap="square" lIns="254" tIns="254" rIns="254" bIns="254" rtlCol="0" anchor="t"/>
          <a:lstStyle/>
          <a:p>
            <a:pPr indent="0" marL="0">
              <a:buNone/>
            </a:pPr>
            <a:r>
              <a:rPr lang="en-US" sz="1100" i="1" dirty="0">
                <a:solidFill>
                  <a:srgbClr val="444444"/>
                </a:solidFill>
              </a:rPr>
              <a:t>Full SCATS: 36.94 s mean delay. With one mechanism off: no tactical 62.04, no marriage 50.33, no offset 45.22, no bus priority 42.49, no split 37.50, no cycle 34.42 s.</a:t>
            </a:r>
            <a:endParaRPr lang="en-US" sz="1100" dirty="0"/>
          </a:p>
          <a:p>
            <a:pPr indent="0" marL="0">
              <a:spcAft>
                <a:spcPts val="300"/>
              </a:spcAft>
              <a:buNone/>
            </a:pPr>
            <a:r>
              <a:rPr lang="en-US" sz="1150" b="1" dirty="0">
                <a:solidFill>
                  <a:srgbClr val="000000"/>
                </a:solidFill>
              </a:rPr>
              <a:t>1.</a:t>
            </a:r>
            <a:pPr indent="0" marL="0">
              <a:buNone/>
            </a:pPr>
            <a:r>
              <a:rPr lang="en-US" sz="1150" dirty="0">
                <a:solidFill>
                  <a:srgbClr val="000000"/>
                </a:solidFill>
              </a:rPr>
              <a:t>  No tactical: (62.04 − 36.94) ÷ 36.94 = </a:t>
            </a:r>
            <a:pPr indent="0" marL="0">
              <a:buNone/>
            </a:pPr>
            <a:r>
              <a:rPr lang="en-US" sz="1150" b="1" dirty="0">
                <a:solidFill>
                  <a:srgbClr val="000000"/>
                </a:solidFill>
              </a:rPr>
              <a:t>+68%</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2.</a:t>
            </a:r>
            <a:pPr indent="0" marL="0">
              <a:buNone/>
            </a:pPr>
            <a:r>
              <a:rPr lang="en-US" sz="1150" dirty="0">
                <a:solidFill>
                  <a:srgbClr val="000000"/>
                </a:solidFill>
              </a:rPr>
              <a:t>  No marriage: 13.39 ÷ 36.94 = </a:t>
            </a:r>
            <a:pPr indent="0" marL="0">
              <a:buNone/>
            </a:pPr>
            <a:r>
              <a:rPr lang="en-US" sz="1150" b="1" dirty="0">
                <a:solidFill>
                  <a:srgbClr val="000000"/>
                </a:solidFill>
              </a:rPr>
              <a:t>+36%</a:t>
            </a:r>
            <a:pPr indent="0" marL="0">
              <a:buNone/>
            </a:pPr>
            <a:r>
              <a:rPr lang="en-US" sz="1150" dirty="0">
                <a:solidFill>
                  <a:srgbClr val="000000"/>
                </a:solidFill>
              </a:rPr>
              <a:t>. No offset: 8.28 ÷ 36.94 = </a:t>
            </a:r>
            <a:pPr indent="0" marL="0">
              <a:buNone/>
            </a:pPr>
            <a:r>
              <a:rPr lang="en-US" sz="1150" b="1" dirty="0">
                <a:solidFill>
                  <a:srgbClr val="000000"/>
                </a:solidFill>
              </a:rPr>
              <a:t>+22%</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3.</a:t>
            </a:r>
            <a:pPr indent="0" marL="0">
              <a:buNone/>
            </a:pPr>
            <a:r>
              <a:rPr lang="en-US" sz="1150" dirty="0">
                <a:solidFill>
                  <a:srgbClr val="000000"/>
                </a:solidFill>
              </a:rPr>
              <a:t>  No bus priority: 5.55 ÷ 36.94 = </a:t>
            </a:r>
            <a:pPr indent="0" marL="0">
              <a:buNone/>
            </a:pPr>
            <a:r>
              <a:rPr lang="en-US" sz="1150" b="1" dirty="0">
                <a:solidFill>
                  <a:srgbClr val="000000"/>
                </a:solidFill>
              </a:rPr>
              <a:t>+15%</a:t>
            </a:r>
            <a:pPr indent="0" marL="0">
              <a:buNone/>
            </a:pPr>
            <a:r>
              <a:rPr lang="en-US" sz="1150" dirty="0">
                <a:solidFill>
                  <a:srgbClr val="000000"/>
                </a:solidFill>
              </a:rPr>
              <a:t>. No split: 0.56 ÷ 36.94 = </a:t>
            </a:r>
            <a:pPr indent="0" marL="0">
              <a:buNone/>
            </a:pPr>
            <a:r>
              <a:rPr lang="en-US" sz="1150" b="1" dirty="0">
                <a:solidFill>
                  <a:srgbClr val="000000"/>
                </a:solidFill>
              </a:rPr>
              <a:t>+1.5%</a:t>
            </a:r>
            <a:pPr indent="0" marL="0">
              <a:buNone/>
            </a:pPr>
            <a:r>
              <a:rPr lang="en-US" sz="1150" dirty="0">
                <a:solidFill>
                  <a:srgbClr val="000000"/>
                </a:solidFill>
              </a:rPr>
              <a:t>.</a:t>
            </a:r>
            <a:endParaRPr lang="en-US" sz="1100" dirty="0"/>
          </a:p>
          <a:p>
            <a:pPr indent="0" marL="0">
              <a:spcAft>
                <a:spcPts val="300"/>
              </a:spcAft>
              <a:buNone/>
            </a:pPr>
            <a:r>
              <a:rPr lang="en-US" sz="1150" b="1" dirty="0">
                <a:solidFill>
                  <a:srgbClr val="000000"/>
                </a:solidFill>
              </a:rPr>
              <a:t>4.</a:t>
            </a:r>
            <a:pPr indent="0" marL="0">
              <a:buNone/>
            </a:pPr>
            <a:r>
              <a:rPr lang="en-US" sz="1150" dirty="0">
                <a:solidFill>
                  <a:srgbClr val="000000"/>
                </a:solidFill>
              </a:rPr>
              <a:t>  No cycle adaptation: −2.52 ÷ 36.94 = </a:t>
            </a:r>
            <a:pPr indent="0" marL="0">
              <a:buNone/>
            </a:pPr>
            <a:r>
              <a:rPr lang="en-US" sz="1150" b="1" dirty="0">
                <a:solidFill>
                  <a:srgbClr val="000000"/>
                </a:solidFill>
              </a:rPr>
              <a:t>−6.8%</a:t>
            </a:r>
            <a:pPr indent="0" marL="0">
              <a:buNone/>
            </a:pPr>
            <a:r>
              <a:rPr lang="en-US" sz="1150" dirty="0">
                <a:solidFill>
                  <a:srgbClr val="000000"/>
                </a:solidFill>
              </a:rPr>
              <a:t> (slightly better).</a:t>
            </a:r>
            <a:endParaRPr lang="en-US" sz="1100" dirty="0"/>
          </a:p>
          <a:p>
            <a:pPr indent="0" marL="0">
              <a:spcAft>
                <a:spcPts val="300"/>
              </a:spcAft>
              <a:buNone/>
            </a:pPr>
            <a:r>
              <a:rPr lang="en-US" sz="1150" b="1" dirty="0">
                <a:solidFill>
                  <a:srgbClr val="000000"/>
                </a:solidFill>
              </a:rPr>
              <a:t>5.</a:t>
            </a:r>
            <a:pPr indent="0" marL="0">
              <a:buNone/>
            </a:pPr>
            <a:r>
              <a:rPr lang="en-US" sz="1150" dirty="0">
                <a:solidFill>
                  <a:srgbClr val="000000"/>
                </a:solidFill>
              </a:rPr>
              <a:t>  Versus fixed time (77.2 s): SCATS cuts delay by </a:t>
            </a:r>
            <a:pPr indent="0" marL="0">
              <a:buNone/>
            </a:pPr>
            <a:r>
              <a:rPr lang="en-US" sz="1150" b="1" dirty="0">
                <a:solidFill>
                  <a:srgbClr val="000000"/>
                </a:solidFill>
              </a:rPr>
              <a:t>52%</a:t>
            </a:r>
            <a:pPr indent="0" marL="0">
              <a:buNone/>
            </a:pPr>
            <a:r>
              <a:rPr lang="en-US" sz="1150" dirty="0">
                <a:solidFill>
                  <a:srgbClr val="000000"/>
                </a:solidFill>
              </a:rPr>
              <a:t>; versus actuated (40.9 s) by </a:t>
            </a:r>
            <a:pPr indent="0" marL="0">
              <a:buNone/>
            </a:pPr>
            <a:r>
              <a:rPr lang="en-US" sz="1150" b="1" dirty="0">
                <a:solidFill>
                  <a:srgbClr val="000000"/>
                </a:solidFill>
              </a:rPr>
              <a:t>10%</a:t>
            </a:r>
            <a:pPr indent="0" marL="0">
              <a:buNone/>
            </a:pPr>
            <a:r>
              <a:rPr lang="en-US" sz="1150" dirty="0">
                <a:solidFill>
                  <a:srgbClr val="000000"/>
                </a:solidFill>
              </a:rPr>
              <a:t>.</a:t>
            </a:r>
            <a:endParaRPr lang="en-US" sz="1100" dirty="0"/>
          </a:p>
          <a:p>
            <a:pPr indent="0" marL="0">
              <a:buNone/>
            </a:pPr>
            <a:r>
              <a:rPr lang="en-US" sz="1150" b="1" dirty="0">
                <a:solidFill>
                  <a:schemeClr val="tx2"/>
                </a:solidFill>
              </a:rPr>
              <a:t>On this corridor, second-by-second tactical control and coordination (marriage, offsets) carry most of the benefit. An 80 s fixed cycle happened to suit this demand, so cycle adaptation did not pay here.</a:t>
            </a:r>
            <a:endParaRPr lang="en-US" sz="1100" dirty="0"/>
          </a:p>
        </p:txBody>
      </p:sp>
      <p:graphicFrame>
        <p:nvGraphicFramePr>
          <p:cNvPr id="6" name="Chart 0" descr=""/>
          <p:cNvGraphicFramePr/>
          <p:nvPr/>
        </p:nvGraphicFramePr>
        <p:xfrm>
          <a:off x="4709160" y="1444752"/>
          <a:ext cx="4023360" cy="321868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Remember it: Modes &amp; ablation</a:t>
            </a:r>
            <a:endParaRPr lang="en-US" sz="2400" dirty="0"/>
          </a:p>
        </p:txBody>
      </p:sp>
      <p:pic>
        <p:nvPicPr>
          <p:cNvPr id="3" name="Image 0" descr="Mind map of Operating modes and the full system on SUMO">    </p:cNvPr>
          <p:cNvPicPr>
            <a:picLocks noChangeAspect="1"/>
          </p:cNvPicPr>
          <p:nvPr/>
        </p:nvPicPr>
        <p:blipFill>
          <a:blip r:embed="rId1"/>
          <a:stretch>
            <a:fillRect/>
          </a:stretch>
        </p:blipFill>
        <p:spPr>
          <a:xfrm>
            <a:off x="1090215" y="868680"/>
            <a:ext cx="6963570" cy="2240280"/>
          </a:xfrm>
          <a:prstGeom prst="rect">
            <a:avLst/>
          </a:prstGeom>
        </p:spPr>
      </p:pic>
      <p:sp>
        <p:nvSpPr>
          <p:cNvPr id="4" name="picture this"/>
          <p:cNvSpPr/>
          <p:nvPr/>
        </p:nvSpPr>
        <p:spPr>
          <a:xfrm>
            <a:off x="411480" y="3200400"/>
            <a:ext cx="4087368" cy="1536192"/>
          </a:xfrm>
          <a:prstGeom prst="roundRect">
            <a:avLst>
              <a:gd name="adj" fmla="val 4762"/>
            </a:avLst>
          </a:prstGeom>
          <a:solidFill>
            <a:srgbClr val="F3EFFA"/>
          </a:solidFill>
          <a:ln w="12700">
            <a:solidFill>
              <a:srgbClr val="F3EFFA"/>
            </a:solidFill>
            <a:prstDash val="solid"/>
          </a:ln>
        </p:spPr>
      </p:sp>
      <p:sp>
        <p:nvSpPr>
          <p:cNvPr id="5" name="Text 2"/>
          <p:cNvSpPr txBox="1"/>
          <p:nvPr/>
        </p:nvSpPr>
        <p:spPr>
          <a:xfrm>
            <a:off x="548640" y="3246120"/>
            <a:ext cx="3840480" cy="256032"/>
          </a:xfrm>
          <a:prstGeom prst="rect">
            <a:avLst/>
          </a:prstGeom>
          <a:noFill/>
          <a:ln/>
        </p:spPr>
        <p:txBody>
          <a:bodyPr wrap="square" lIns="0" tIns="0" rIns="0" bIns="0" rtlCol="0" anchor="ctr"/>
          <a:lstStyle/>
          <a:p>
            <a:pPr indent="0" marL="0">
              <a:buNone/>
            </a:pPr>
            <a:r>
              <a:rPr lang="en-US" sz="900" b="1" spc="100" kern="0" dirty="0">
                <a:solidFill>
                  <a:srgbClr val="3F3266"/>
                </a:solidFill>
              </a:rPr>
              <a:t>PICTURE THIS · STOP 8: CONTROL TOWER</a:t>
            </a:r>
            <a:endParaRPr lang="en-US" sz="900" dirty="0"/>
          </a:p>
        </p:txBody>
      </p:sp>
      <p:sp>
        <p:nvSpPr>
          <p:cNvPr id="6" name="Text 3"/>
          <p:cNvSpPr txBox="1"/>
          <p:nvPr/>
        </p:nvSpPr>
        <p:spPr>
          <a:xfrm>
            <a:off x="548640"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In the control tower a conductor leads an orchestra of traffic lights. When she trips over the cable, the lights pick up sheet music and a ticking metronome. Behind her a scoreboard shows seven pillars; the tallest, 62, is labelled 'tactical'.</a:t>
            </a:r>
            <a:endParaRPr lang="en-US" sz="1050" dirty="0"/>
          </a:p>
        </p:txBody>
      </p:sp>
      <p:sp>
        <p:nvSpPr>
          <p:cNvPr id="7" name="trap"/>
          <p:cNvSpPr/>
          <p:nvPr/>
        </p:nvSpPr>
        <p:spPr>
          <a:xfrm>
            <a:off x="4645152" y="3200400"/>
            <a:ext cx="4087368" cy="1536192"/>
          </a:xfrm>
          <a:prstGeom prst="roundRect">
            <a:avLst>
              <a:gd name="adj" fmla="val 4762"/>
            </a:avLst>
          </a:prstGeom>
          <a:solidFill>
            <a:srgbClr val="FBECEA"/>
          </a:solidFill>
          <a:ln w="12700">
            <a:solidFill>
              <a:srgbClr val="FBECEA"/>
            </a:solidFill>
            <a:prstDash val="solid"/>
          </a:ln>
        </p:spPr>
      </p:sp>
      <p:sp>
        <p:nvSpPr>
          <p:cNvPr id="8" name="Text 5"/>
          <p:cNvSpPr txBox="1"/>
          <p:nvPr/>
        </p:nvSpPr>
        <p:spPr>
          <a:xfrm>
            <a:off x="4782312" y="3246120"/>
            <a:ext cx="3840480" cy="256032"/>
          </a:xfrm>
          <a:prstGeom prst="rect">
            <a:avLst/>
          </a:prstGeom>
          <a:noFill/>
          <a:ln/>
        </p:spPr>
        <p:txBody>
          <a:bodyPr wrap="square" lIns="0" tIns="0" rIns="0" bIns="0" rtlCol="0" anchor="ctr"/>
          <a:lstStyle/>
          <a:p>
            <a:pPr indent="0" marL="0">
              <a:buNone/>
            </a:pPr>
            <a:r>
              <a:rPr lang="en-US" sz="900" b="1" spc="200" kern="0" dirty="0">
                <a:solidFill>
                  <a:srgbClr val="8F3520"/>
                </a:solidFill>
              </a:rPr>
              <a:t>TRAP</a:t>
            </a:r>
            <a:endParaRPr lang="en-US" sz="900" dirty="0"/>
          </a:p>
        </p:txBody>
      </p:sp>
      <p:sp>
        <p:nvSpPr>
          <p:cNvPr id="9" name="Text 6"/>
          <p:cNvSpPr txBox="1"/>
          <p:nvPr/>
        </p:nvSpPr>
        <p:spPr>
          <a:xfrm>
            <a:off x="4782312" y="3502152"/>
            <a:ext cx="3840480" cy="1207008"/>
          </a:xfrm>
          <a:prstGeom prst="rect">
            <a:avLst/>
          </a:prstGeom>
          <a:noFill/>
          <a:ln/>
        </p:spPr>
        <p:txBody>
          <a:bodyPr wrap="square" lIns="0" tIns="0" rIns="0" bIns="0" rtlCol="0" anchor="t"/>
          <a:lstStyle/>
          <a:p>
            <a:pPr indent="0" marL="0">
              <a:buNone/>
            </a:pPr>
            <a:r>
              <a:rPr lang="en-US" sz="1050" dirty="0">
                <a:solidFill>
                  <a:schemeClr val="tx1"/>
                </a:solidFill>
              </a:rPr>
              <a:t>An ablation result is about this corridor and this demand. 'No cycle adaptation was better' does not mean cycle adaptation is useless; it pays off when demand swings far from the fixed value.</a:t>
            </a:r>
            <a:endParaRPr lang="en-US" sz="105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Strategic versus tactical control</a:t>
            </a:r>
            <a:endParaRPr lang="en-US" sz="2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554480"/>
                <a:gridCol w="3383280"/>
                <a:gridCol w="3383280"/>
              </a:tblGrid>
              <a:tr h="0">
                <a:tc>
                  <a:txBody>
                    <a:bodyPr/>
                    <a:lstStyle/>
                    <a:p>
                      <a:pPr indent="0" marL="0">
                        <a:buNone/>
                      </a:pP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250" b="1" dirty="0">
                          <a:solidFill>
                            <a:srgbClr val="FFFFFF"/>
                          </a:solidFill>
                        </a:rPr>
                        <a:t>Strategic</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250" b="1" dirty="0">
                          <a:solidFill>
                            <a:srgbClr val="FFFFFF"/>
                          </a:solidFill>
                        </a:rPr>
                        <a:t>Tactical</a:t>
                      </a:r>
                      <a:endParaRPr lang="en-US" sz="125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r>
              <a:tr h="0">
                <a:tc>
                  <a:txBody>
                    <a:bodyPr/>
                    <a:lstStyle/>
                    <a:p>
                      <a:pPr indent="0" marL="0">
                        <a:buNone/>
                      </a:pPr>
                      <a:r>
                        <a:rPr lang="en-US" sz="1250" b="1" dirty="0">
                          <a:solidFill>
                            <a:srgbClr val="000000"/>
                          </a:solidFill>
                        </a:rPr>
                        <a:t>Where it runs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regional computer</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local controller at the junction</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How often</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once per cycle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every second</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Decides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cycle, split plan, offset plan, marriage</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gap-out, skipping, holding, priority</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Damping</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step limits, 2-of-3 and 4-of-5 votes, hysteresis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minimum green, gap setting</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250" b="1" dirty="0">
                          <a:solidFill>
                            <a:srgbClr val="000000"/>
                          </a:solidFill>
                        </a:rPr>
                        <a:t>Ablation (delay when off)</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marriage 50.3, offset 45.2, split 37.5, cycle 34.4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250" dirty="0">
                          <a:solidFill>
                            <a:srgbClr val="000000"/>
                          </a:solidFill>
                        </a:rPr>
                        <a:t>62.0 s</a:t>
                      </a:r>
                      <a:endParaRPr lang="en-US" sz="1200" dirty="0"/>
                    </a:p>
                  </a:txBody>
                  <a:tcPr marL="73152" marR="73152" marT="73152" marB="73152"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Things beginners mix up</a:t>
            </a:r>
            <a:endParaRPr lang="en-US" sz="2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737360"/>
                <a:gridCol w="1737360"/>
                <a:gridCol w="4846320"/>
              </a:tblGrid>
              <a:tr h="0">
                <a:tc>
                  <a:txBody>
                    <a:bodyPr/>
                    <a:lstStyle/>
                    <a:p>
                      <a:pPr indent="0" marL="0">
                        <a:buNone/>
                      </a:pPr>
                      <a:r>
                        <a:rPr lang="en-US" sz="1300" b="1" dirty="0">
                          <a:solidFill>
                            <a:srgbClr val="FFFFFF"/>
                          </a:solidFill>
                        </a:rPr>
                        <a:t>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300" b="1" dirty="0">
                          <a:solidFill>
                            <a:srgbClr val="FFFFFF"/>
                          </a:solidFill>
                        </a:rPr>
                        <a:t>…is not this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c>
                  <a:txBody>
                    <a:bodyPr/>
                    <a:lstStyle/>
                    <a:p>
                      <a:pPr indent="0" marL="0">
                        <a:buNone/>
                      </a:pPr>
                      <a:r>
                        <a:rPr lang="en-US" sz="1300" b="1" dirty="0">
                          <a:solidFill>
                            <a:srgbClr val="FFFFFF"/>
                          </a:solidFill>
                        </a:rPr>
                        <a:t>The fact that tells them apart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solidFill>
                      <a:srgbClr val="17324F"/>
                    </a:solidFill>
                  </a:tcPr>
                </a:tc>
              </a:tr>
              <a:tr h="0">
                <a:tc>
                  <a:txBody>
                    <a:bodyPr/>
                    <a:lstStyle/>
                    <a:p>
                      <a:pPr indent="0" marL="0">
                        <a:buNone/>
                      </a:pPr>
                      <a:r>
                        <a:rPr lang="en-US" sz="1300" b="1" dirty="0">
                          <a:solidFill>
                            <a:srgbClr val="000000"/>
                          </a:solidFill>
                        </a:rPr>
                        <a:t>Split voting (2 of 3)</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Offset voting (4 of 5)</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Offset changes disturb traffic more, so they need stronger agreement.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Married cycle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Average of the two cycles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Married subsystems both take the larger cycle.</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Lowest worst-phase DS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Lowest average DS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SCATS picks the split plan that minimises the highest phase DS.</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Gap-out</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Phase skipping</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Gap-out ends a green that started; skipping never starts a phase with no demand.</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r h="0">
                <a:tc>
                  <a:txBody>
                    <a:bodyPr/>
                    <a:lstStyle/>
                    <a:p>
                      <a:pPr indent="0" marL="0">
                        <a:buNone/>
                      </a:pPr>
                      <a:r>
                        <a:rPr lang="en-US" sz="1300" b="1" dirty="0">
                          <a:solidFill>
                            <a:srgbClr val="000000"/>
                          </a:solidFill>
                        </a:rPr>
                        <a:t>Flexilink</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b="1" dirty="0">
                          <a:solidFill>
                            <a:srgbClr val="000000"/>
                          </a:solidFill>
                        </a:rPr>
                        <a:t>Isolated</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c>
                  <a:txBody>
                    <a:bodyPr/>
                    <a:lstStyle/>
                    <a:p>
                      <a:pPr indent="0" marL="0">
                        <a:buNone/>
                      </a:pPr>
                      <a:r>
                        <a:rPr lang="en-US" sz="1300" dirty="0">
                          <a:solidFill>
                            <a:srgbClr val="000000"/>
                          </a:solidFill>
                        </a:rPr>
                        <a:t>Flexilink keeps synchronised clocks, so offsets still hold; Isolated has no coordination.</a:t>
                      </a:r>
                      <a:endParaRPr lang="en-US" sz="1300" dirty="0"/>
                    </a:p>
                  </a:txBody>
                  <a:tcPr marL="54864" marR="54864" marT="54864" marB="54864" anchor="ctr">
                    <a:lnL w="6350" cap="flat" cmpd="sng" algn="ctr">
                      <a:solidFill>
                        <a:srgbClr val="D5DAE0"/>
                      </a:solidFill>
                      <a:prstDash val="solid"/>
                      <a:round/>
                      <a:headEnd type="none" w="med" len="med"/>
                      <a:tailEnd type="none" w="med" len="med"/>
                    </a:lnL>
                    <a:lnR w="6350" cap="flat" cmpd="sng" algn="ctr">
                      <a:solidFill>
                        <a:srgbClr val="D5DAE0"/>
                      </a:solidFill>
                      <a:prstDash val="solid"/>
                      <a:round/>
                      <a:headEnd type="none" w="med" len="med"/>
                      <a:tailEnd type="none" w="med" len="med"/>
                    </a:lnR>
                    <a:lnT w="6350" cap="flat" cmpd="sng" algn="ctr">
                      <a:solidFill>
                        <a:srgbClr val="D5DAE0"/>
                      </a:solidFill>
                      <a:prstDash val="solid"/>
                      <a:round/>
                      <a:headEnd type="none" w="med" len="med"/>
                      <a:tailEnd type="none" w="med" len="med"/>
                    </a:lnT>
                    <a:lnB w="6350" cap="flat" cmpd="sng" algn="ctr">
                      <a:solidFill>
                        <a:srgbClr val="D5DA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(1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2F6"/>
          </a:solidFill>
          <a:ln w="12700">
            <a:solidFill>
              <a:srgbClr val="EEF2F6"/>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C = 100 s and the CI's DS = 1.20 (target 0.9). What is the next cycle?</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106 s</a:t>
            </a:r>
            <a:endParaRPr lang="en-US" sz="1400" dirty="0"/>
          </a:p>
          <a:p>
            <a:pPr indent="0" marL="0">
              <a:spcAft>
                <a:spcPts val="900"/>
              </a:spcAft>
              <a:buNone/>
            </a:pPr>
            <a:r>
              <a:rPr lang="en-US" sz="1400" dirty="0">
                <a:solidFill>
                  <a:srgbClr val="000000"/>
                </a:solidFill>
              </a:rPr>
              <a:t>B.  109 s</a:t>
            </a:r>
            <a:endParaRPr lang="en-US" sz="1400" dirty="0"/>
          </a:p>
          <a:p>
            <a:pPr indent="0" marL="0">
              <a:spcAft>
                <a:spcPts val="900"/>
              </a:spcAft>
              <a:buNone/>
            </a:pPr>
            <a:r>
              <a:rPr lang="en-US" sz="1400" dirty="0">
                <a:solidFill>
                  <a:srgbClr val="000000"/>
                </a:solidFill>
              </a:rPr>
              <a:t>C.  133 s</a:t>
            </a:r>
            <a:endParaRPr lang="en-US" sz="1400" dirty="0"/>
          </a:p>
          <a:p>
            <a:pPr indent="0" marL="0">
              <a:spcAft>
                <a:spcPts val="900"/>
              </a:spcAft>
              <a:buNone/>
            </a:pPr>
            <a:r>
              <a:rPr lang="en-US" sz="1400" dirty="0">
                <a:solidFill>
                  <a:srgbClr val="000000"/>
                </a:solidFill>
              </a:rPr>
              <a:t>D.  140 s</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2F6"/>
          </a:solidFill>
          <a:ln w="12700">
            <a:solidFill>
              <a:srgbClr val="EEF2F6"/>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Junctions 400 m apart, progression 16 m/s, cycle 90 s. OP1 offset of the third junction (800 m from the reference)?</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25 s</a:t>
            </a:r>
            <a:endParaRPr lang="en-US" sz="1400" dirty="0"/>
          </a:p>
          <a:p>
            <a:pPr indent="0" marL="0">
              <a:spcAft>
                <a:spcPts val="900"/>
              </a:spcAft>
              <a:buNone/>
            </a:pPr>
            <a:r>
              <a:rPr lang="en-US" sz="1400" dirty="0">
                <a:solidFill>
                  <a:srgbClr val="000000"/>
                </a:solidFill>
              </a:rPr>
              <a:t>B.  40 s</a:t>
            </a:r>
            <a:endParaRPr lang="en-US" sz="1400" dirty="0"/>
          </a:p>
          <a:p>
            <a:pPr indent="0" marL="0">
              <a:spcAft>
                <a:spcPts val="900"/>
              </a:spcAft>
              <a:buNone/>
            </a:pPr>
            <a:r>
              <a:rPr lang="en-US" sz="1400" dirty="0">
                <a:solidFill>
                  <a:srgbClr val="000000"/>
                </a:solidFill>
              </a:rPr>
              <a:t>C.  50 s</a:t>
            </a:r>
            <a:endParaRPr lang="en-US" sz="1400" dirty="0"/>
          </a:p>
          <a:p>
            <a:pPr indent="0" marL="0">
              <a:spcAft>
                <a:spcPts val="900"/>
              </a:spcAft>
              <a:buNone/>
            </a:pPr>
            <a:r>
              <a:rPr lang="en-US" sz="1400" dirty="0">
                <a:solidFill>
                  <a:srgbClr val="000000"/>
                </a:solidFill>
              </a:rPr>
              <a:t>D.  65 s</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Check yourself (2 of 2)</a:t>
            </a:r>
            <a:endParaRPr lang="en-US" sz="2400" dirty="0"/>
          </a:p>
        </p:txBody>
      </p:sp>
      <p:sp>
        <p:nvSpPr>
          <p:cNvPr id="3" name="question 1"/>
          <p:cNvSpPr/>
          <p:nvPr/>
        </p:nvSpPr>
        <p:spPr>
          <a:xfrm>
            <a:off x="411480" y="960120"/>
            <a:ext cx="4069080" cy="3291840"/>
          </a:xfrm>
          <a:prstGeom prst="roundRect">
            <a:avLst>
              <a:gd name="adj" fmla="val 2222"/>
            </a:avLst>
          </a:prstGeom>
          <a:solidFill>
            <a:srgbClr val="EEF2F6"/>
          </a:solidFill>
          <a:ln w="12700">
            <a:solidFill>
              <a:srgbClr val="EEF2F6"/>
            </a:solidFill>
            <a:prstDash val="solid"/>
          </a:ln>
        </p:spPr>
      </p:sp>
      <p:sp>
        <p:nvSpPr>
          <p:cNvPr id="4" name="Text 2"/>
          <p:cNvSpPr txBox="1"/>
          <p:nvPr/>
        </p:nvSpPr>
        <p:spPr>
          <a:xfrm>
            <a:off x="576072"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Why is the main-road (coordinated) phase normally not allowed to gap out?</a:t>
            </a:r>
            <a:endParaRPr lang="en-US" sz="1500" dirty="0"/>
          </a:p>
        </p:txBody>
      </p:sp>
      <p:sp>
        <p:nvSpPr>
          <p:cNvPr id="5" name="Text 3"/>
          <p:cNvSpPr txBox="1"/>
          <p:nvPr/>
        </p:nvSpPr>
        <p:spPr>
          <a:xfrm>
            <a:off x="576072"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It has no detector</a:t>
            </a:r>
            <a:endParaRPr lang="en-US" sz="1400" dirty="0"/>
          </a:p>
          <a:p>
            <a:pPr indent="0" marL="0">
              <a:spcAft>
                <a:spcPts val="900"/>
              </a:spcAft>
              <a:buNone/>
            </a:pPr>
            <a:r>
              <a:rPr lang="en-US" sz="1400" dirty="0">
                <a:solidFill>
                  <a:srgbClr val="000000"/>
                </a:solidFill>
              </a:rPr>
              <a:t>B.  Ending it early would break the green wave</a:t>
            </a:r>
            <a:endParaRPr lang="en-US" sz="1400" dirty="0"/>
          </a:p>
          <a:p>
            <a:pPr indent="0" marL="0">
              <a:spcAft>
                <a:spcPts val="900"/>
              </a:spcAft>
              <a:buNone/>
            </a:pPr>
            <a:r>
              <a:rPr lang="en-US" sz="1400" dirty="0">
                <a:solidFill>
                  <a:srgbClr val="000000"/>
                </a:solidFill>
              </a:rPr>
              <a:t>C.  It always has demand</a:t>
            </a:r>
            <a:endParaRPr lang="en-US" sz="1400" dirty="0"/>
          </a:p>
          <a:p>
            <a:pPr indent="0" marL="0">
              <a:spcAft>
                <a:spcPts val="900"/>
              </a:spcAft>
              <a:buNone/>
            </a:pPr>
            <a:r>
              <a:rPr lang="en-US" sz="1400" dirty="0">
                <a:solidFill>
                  <a:srgbClr val="000000"/>
                </a:solidFill>
              </a:rPr>
              <a:t>D.  Rules forbid it</a:t>
            </a:r>
            <a:endParaRPr lang="en-US" sz="1400" dirty="0"/>
          </a:p>
        </p:txBody>
      </p:sp>
      <p:sp>
        <p:nvSpPr>
          <p:cNvPr id="6" name="question 2"/>
          <p:cNvSpPr/>
          <p:nvPr/>
        </p:nvSpPr>
        <p:spPr>
          <a:xfrm>
            <a:off x="4636008" y="960120"/>
            <a:ext cx="4069080" cy="3291840"/>
          </a:xfrm>
          <a:prstGeom prst="roundRect">
            <a:avLst>
              <a:gd name="adj" fmla="val 2222"/>
            </a:avLst>
          </a:prstGeom>
          <a:solidFill>
            <a:srgbClr val="EEF2F6"/>
          </a:solidFill>
          <a:ln w="12700">
            <a:solidFill>
              <a:srgbClr val="EEF2F6"/>
            </a:solidFill>
            <a:prstDash val="solid"/>
          </a:ln>
        </p:spPr>
      </p:sp>
      <p:sp>
        <p:nvSpPr>
          <p:cNvPr id="7" name="Text 5"/>
          <p:cNvSpPr txBox="1"/>
          <p:nvPr/>
        </p:nvSpPr>
        <p:spPr>
          <a:xfrm>
            <a:off x="4800600" y="1051560"/>
            <a:ext cx="3749040" cy="1234440"/>
          </a:xfrm>
          <a:prstGeom prst="rect">
            <a:avLst/>
          </a:prstGeom>
          <a:noFill/>
          <a:ln/>
        </p:spPr>
        <p:txBody>
          <a:bodyPr wrap="square" lIns="0" tIns="0" rIns="0" bIns="0" rtlCol="0" anchor="t"/>
          <a:lstStyle/>
          <a:p>
            <a:pPr indent="0" marL="0">
              <a:buNone/>
            </a:pPr>
            <a:r>
              <a:rPr lang="en-US" sz="1500" b="1" dirty="0">
                <a:solidFill>
                  <a:schemeClr val="tx1"/>
                </a:solidFill>
              </a:rPr>
              <a:t>Which pair of mechanisms carried most of SCATS's benefit on the Lab A2 corridor?</a:t>
            </a:r>
            <a:endParaRPr lang="en-US" sz="1500" dirty="0"/>
          </a:p>
        </p:txBody>
      </p:sp>
      <p:sp>
        <p:nvSpPr>
          <p:cNvPr id="8" name="Text 6"/>
          <p:cNvSpPr txBox="1"/>
          <p:nvPr/>
        </p:nvSpPr>
        <p:spPr>
          <a:xfrm>
            <a:off x="4800600" y="2240280"/>
            <a:ext cx="3749040" cy="1920240"/>
          </a:xfrm>
          <a:prstGeom prst="rect">
            <a:avLst/>
          </a:prstGeom>
          <a:noFill/>
          <a:ln/>
        </p:spPr>
        <p:txBody>
          <a:bodyPr wrap="square" lIns="0" tIns="0" rIns="0" bIns="0" rtlCol="0" anchor="t"/>
          <a:lstStyle/>
          <a:p>
            <a:pPr indent="0" marL="0">
              <a:spcAft>
                <a:spcPts val="900"/>
              </a:spcAft>
              <a:buNone/>
            </a:pPr>
            <a:r>
              <a:rPr lang="en-US" sz="1400" dirty="0">
                <a:solidFill>
                  <a:srgbClr val="000000"/>
                </a:solidFill>
              </a:rPr>
              <a:t>A.  Split and cycle adaptation</a:t>
            </a:r>
            <a:endParaRPr lang="en-US" sz="1400" dirty="0"/>
          </a:p>
          <a:p>
            <a:pPr indent="0" marL="0">
              <a:spcAft>
                <a:spcPts val="900"/>
              </a:spcAft>
              <a:buNone/>
            </a:pPr>
            <a:r>
              <a:rPr lang="en-US" sz="1400" dirty="0">
                <a:solidFill>
                  <a:srgbClr val="000000"/>
                </a:solidFill>
              </a:rPr>
              <a:t>B.  Tactical control and marriage</a:t>
            </a:r>
            <a:endParaRPr lang="en-US" sz="1400" dirty="0"/>
          </a:p>
          <a:p>
            <a:pPr indent="0" marL="0">
              <a:spcAft>
                <a:spcPts val="900"/>
              </a:spcAft>
              <a:buNone/>
            </a:pPr>
            <a:r>
              <a:rPr lang="en-US" sz="1400" dirty="0">
                <a:solidFill>
                  <a:srgbClr val="000000"/>
                </a:solidFill>
              </a:rPr>
              <a:t>C.  Bus priority and cycle adaptation</a:t>
            </a:r>
            <a:endParaRPr lang="en-US" sz="1400" dirty="0"/>
          </a:p>
          <a:p>
            <a:pPr indent="0" marL="0">
              <a:spcAft>
                <a:spcPts val="900"/>
              </a:spcAft>
              <a:buNone/>
            </a:pPr>
            <a:r>
              <a:rPr lang="en-US" sz="1400" dirty="0">
                <a:solidFill>
                  <a:srgbClr val="000000"/>
                </a:solidFill>
              </a:rPr>
              <a:t>D.  Offset and split adaptation</a:t>
            </a:r>
            <a:endParaRPr lang="en-US" sz="1400" dirty="0"/>
          </a:p>
        </p:txBody>
      </p:sp>
      <p:sp>
        <p:nvSpPr>
          <p:cNvPr id="9" name="Text 7"/>
          <p:cNvSpPr txBox="1"/>
          <p:nvPr/>
        </p:nvSpPr>
        <p:spPr>
          <a:xfrm>
            <a:off x="411480" y="4343400"/>
            <a:ext cx="8321040" cy="320040"/>
          </a:xfrm>
          <a:prstGeom prst="rect">
            <a:avLst/>
          </a:prstGeom>
          <a:noFill/>
          <a:ln/>
        </p:spPr>
        <p:txBody>
          <a:bodyPr wrap="square" rtlCol="0" anchor="ctr"/>
          <a:lstStyle/>
          <a:p>
            <a:pPr indent="0" marL="0">
              <a:buNone/>
            </a:pPr>
            <a:r>
              <a:rPr lang="en-US" sz="1100" i="1" dirty="0">
                <a:solidFill>
                  <a:srgbClr val="555555"/>
                </a:solidFill>
              </a:rPr>
              <a:t>Answers are in the speaker notes and in the study guide's answer key.</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Walk the memory route</a:t>
            </a:r>
            <a:endParaRPr lang="en-US" sz="2400" dirty="0"/>
          </a:p>
        </p:txBody>
      </p:sp>
      <p:pic>
        <p:nvPicPr>
          <p:cNvPr id="3" name="Image 0" descr="Memory route with one stop per concept">    </p:cNvPr>
          <p:cNvPicPr>
            <a:picLocks noChangeAspect="1"/>
          </p:cNvPicPr>
          <p:nvPr/>
        </p:nvPicPr>
        <p:blipFill>
          <a:blip r:embed="rId1"/>
          <a:stretch>
            <a:fillRect/>
          </a:stretch>
        </p:blipFill>
        <p:spPr>
          <a:xfrm>
            <a:off x="834044" y="914400"/>
            <a:ext cx="7475913" cy="3246120"/>
          </a:xfrm>
          <a:prstGeom prst="rect">
            <a:avLst/>
          </a:prstGeom>
        </p:spPr>
      </p:pic>
      <p:sp>
        <p:nvSpPr>
          <p:cNvPr id="4" name="Text 1"/>
          <p:cNvSpPr txBox="1"/>
          <p:nvPr/>
        </p:nvSpPr>
        <p:spPr>
          <a:xfrm>
            <a:off x="411480" y="4206240"/>
            <a:ext cx="8321040" cy="502920"/>
          </a:xfrm>
          <a:prstGeom prst="rect">
            <a:avLst/>
          </a:prstGeom>
          <a:noFill/>
          <a:ln/>
        </p:spPr>
        <p:txBody>
          <a:bodyPr wrap="square" rtlCol="0" anchor="ctr"/>
          <a:lstStyle/>
          <a:p>
            <a:pPr algn="ctr" indent="0" marL="0">
              <a:buNone/>
            </a:pPr>
            <a:r>
              <a:rPr lang="en-US" sz="1100" dirty="0">
                <a:solidFill>
                  <a:schemeClr val="tx1"/>
                </a:solidFill>
              </a:rPr>
              <a:t>1 Ferry wharf = Subsystems &amp; CI   ·   2 Opera house = Cycle length   ·   3 Fish market = Split plans   ·   4 Harbour bridge = Offsets   ·   5 Wedding chapel = Marriage   ·   6 Lighthouse = Tactical control   ·   7 Tram stop = Bus priority   ·   8 Control tower = Modes &amp; ablation</a:t>
            </a:r>
            <a:endParaRPr lang="en-US" sz="11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11480" y="201168"/>
            <a:ext cx="8321040" cy="640080"/>
          </a:xfrm>
          <a:prstGeom prst="rect">
            <a:avLst/>
          </a:prstGeom>
          <a:noFill/>
          <a:ln/>
        </p:spPr>
        <p:txBody>
          <a:bodyPr wrap="square" rtlCol="0" anchor="ctr"/>
          <a:lstStyle/>
          <a:p>
            <a:pPr indent="0" marL="0">
              <a:buNone/>
            </a:pPr>
            <a:r>
              <a:rPr lang="en-US" sz="2400" b="1" dirty="0">
                <a:solidFill>
                  <a:schemeClr val="tx2"/>
                </a:solidFill>
              </a:rPr>
              <a:t>Numbers to remember</a:t>
            </a:r>
            <a:endParaRPr lang="en-US" sz="2400" dirty="0"/>
          </a:p>
        </p:txBody>
      </p:sp>
      <p:sp>
        <p:nvSpPr>
          <p:cNvPr id="3" name="Text 1"/>
          <p:cNvSpPr txBox="1"/>
          <p:nvPr/>
        </p:nvSpPr>
        <p:spPr>
          <a:xfrm>
            <a:off x="41148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Target DS 0.9; h = 1.6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Cycle steps +6 (+9 if DS ≥ 1), −6; LMIN 40, LMAX 140, stretch 110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Split vote 2 of 3; offset vote 4 of 5</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Marry VK ≥ 18, divorce &lt; 10, 3 votes, cycles within 25 s</a:t>
            </a:r>
            <a:endParaRPr lang="en-US" sz="1500" dirty="0"/>
          </a:p>
        </p:txBody>
      </p:sp>
      <p:sp>
        <p:nvSpPr>
          <p:cNvPr id="4" name="Text 2"/>
          <p:cNvSpPr txBox="1"/>
          <p:nvPr/>
        </p:nvSpPr>
        <p:spPr>
          <a:xfrm>
            <a:off x="4617720" y="1005840"/>
            <a:ext cx="4069080" cy="3657600"/>
          </a:xfrm>
          <a:prstGeom prst="rect">
            <a:avLst/>
          </a:prstGeom>
          <a:noFill/>
          <a:ln/>
        </p:spPr>
        <p:txBody>
          <a:bodyPr wrap="square" rtlCol="0" anchor="t"/>
          <a:lstStyle/>
          <a:p>
            <a:pPr indent="0" marL="0">
              <a:spcAft>
                <a:spcPts val="1200"/>
              </a:spcAft>
              <a:buNone/>
            </a:pPr>
            <a:r>
              <a:rPr lang="en-US" sz="1500" b="1" dirty="0">
                <a:solidFill>
                  <a:schemeClr val="tx1"/>
                </a:solidFill>
              </a:rPr>
              <a:t>›</a:t>
            </a:r>
            <a:pPr indent="0" marL="0">
              <a:buNone/>
            </a:pPr>
            <a:r>
              <a:rPr lang="en-US" sz="1500" dirty="0">
                <a:solidFill>
                  <a:schemeClr val="tx1"/>
                </a:solidFill>
              </a:rPr>
              <a:t>  Gap setting 3 s; main road held</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Lab A1 delay 77.2 / 40.9 / 36.9 s; bus 110.8 / 51.8 / 29.7 s</a:t>
            </a:r>
            <a:endParaRPr lang="en-US" sz="1500" dirty="0"/>
          </a:p>
          <a:p>
            <a:pPr indent="0" marL="0">
              <a:spcAft>
                <a:spcPts val="1200"/>
              </a:spcAft>
              <a:buNone/>
            </a:pPr>
            <a:r>
              <a:rPr lang="en-US" sz="1500" b="1" dirty="0">
                <a:solidFill>
                  <a:schemeClr val="tx1"/>
                </a:solidFill>
              </a:rPr>
              <a:t>›</a:t>
            </a:r>
            <a:pPr indent="0" marL="0">
              <a:buNone/>
            </a:pPr>
            <a:r>
              <a:rPr lang="en-US" sz="1500" dirty="0">
                <a:solidFill>
                  <a:schemeClr val="tx1"/>
                </a:solidFill>
              </a:rPr>
              <a:t>  Ablation off: tactical 62.0, marriage 50.3, offset 45.2 s</a:t>
            </a:r>
            <a:endParaRPr lang="en-US" sz="15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66666"/>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1005840"/>
          </a:xfrm>
          <a:prstGeom prst="rect">
            <a:avLst/>
          </a:prstGeom>
          <a:noFill/>
          <a:ln/>
        </p:spPr>
        <p:txBody>
          <a:bodyPr wrap="square" rtlCol="0" anchor="ctr"/>
          <a:lstStyle/>
          <a:p>
            <a:pPr indent="0" marL="0">
              <a:buNone/>
            </a:pPr>
            <a:r>
              <a:rPr lang="en-US" sz="3400" b="1" dirty="0">
                <a:solidFill>
                  <a:schemeClr val="bg1"/>
                </a:solidFill>
              </a:rPr>
              <a:t>Keep going</a:t>
            </a:r>
            <a:endParaRPr lang="en-US" sz="3400" dirty="0"/>
          </a:p>
        </p:txBody>
      </p:sp>
      <p:sp>
        <p:nvSpPr>
          <p:cNvPr id="3" name="Text 0"/>
          <p:cNvSpPr/>
          <p:nvPr>
            <p:ph idx="101" type="body" hasCustomPrompt="1"/>
          </p:nvPr>
        </p:nvSpPr>
        <p:spPr>
          <a:xfrm>
            <a:off x="548640" y="2834640"/>
            <a:ext cx="8046720" cy="914400"/>
          </a:xfrm>
          <a:prstGeom prst="rect">
            <a:avLst/>
          </a:prstGeom>
          <a:noFill/>
          <a:ln/>
        </p:spPr>
        <p:txBody>
          <a:bodyPr wrap="square" rtlCol="0" anchor="t"/>
          <a:lstStyle/>
          <a:p>
            <a:pPr indent="0" marL="0">
              <a:buNone/>
            </a:pPr>
            <a:r>
              <a:rPr lang="en-US" sz="1600" dirty="0">
                <a:solidFill>
                  <a:schemeClr val="bg1"/>
                </a:solidFill>
              </a:rPr>
              <a:t>Study guide: SCATS_Advanced_Study_Guide.pdf · Interactive labs and SUMO code: smrahmanbd.github.io/scats-learning-lab</a:t>
            </a:r>
            <a:endParaRPr lang="en-US" sz="1600" dirty="0"/>
          </a:p>
        </p:txBody>
      </p:sp>
    </p:spTree>
  </p:cSld>
  <p:clrMapOvr>
    <a:masterClrMapping/>
  </p:clrMapOvr>
</p:sld>
</file>

<file path=ppt/theme/theme1.xml><?xml version="1.0" encoding="utf-8"?>
<a:theme xmlns:a="http://schemas.openxmlformats.org/drawingml/2006/main" name="SCATS Learning Lab">
  <a:themeElements>
    <a:clrScheme name="SCATS Learning Lab">
      <a:dk1>
        <a:srgbClr val="1A1A1A"/>
      </a:dk1>
      <a:lt1>
        <a:srgbClr val="FFFFFF"/>
      </a:lt1>
      <a:dk2>
        <a:srgbClr val="17324F"/>
      </a:dk2>
      <a:lt2>
        <a:srgbClr val="EEF2F6"/>
      </a:lt2>
      <a:accent1>
        <a:srgbClr val="17324F"/>
      </a:accent1>
      <a:accent2>
        <a:srgbClr val="F2B526"/>
      </a:accent2>
      <a:accent3>
        <a:srgbClr val="8F3520"/>
      </a:accent3>
      <a:accent4>
        <a:srgbClr val="0B3954"/>
      </a:accent4>
      <a:accent5>
        <a:srgbClr val="3F3266"/>
      </a:accent5>
      <a:accent6>
        <a:srgbClr val="5FA8E8"/>
      </a:accent6>
      <a:hlink>
        <a:srgbClr val="0B5CAD"/>
      </a:hlink>
      <a:folHlink>
        <a:srgbClr val="5A2F38"/>
      </a:folHlink>
    </a:clrScheme>
    <a:fontScheme name="SCATS Learning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SCATS Advanced</dc:title>
  <dc:subject>PptxGenJS Presentation</dc:subject>
  <dc:creator>SCOOT/SCATS Learning Lab</dc:creator>
  <cp:lastModifiedBy>SCOOT/SCATS Learning Lab</cp:lastModifiedBy>
  <cp:revision>1</cp:revision>
  <dcterms:created xsi:type="dcterms:W3CDTF">2026-10-25T17:13:13Z</dcterms:created>
  <dcterms:modified xsi:type="dcterms:W3CDTF">2026-10-25T17:13:13Z</dcterms:modified>
</cp:coreProperties>
</file>